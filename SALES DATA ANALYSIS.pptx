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notesMasterIdLst>
    <p:notesMasterId r:id="rId20"/>
  </p:notesMasterIdLst>
  <p:sldIdLst>
    <p:sldId id="257" r:id="rId2"/>
    <p:sldId id="258" r:id="rId3"/>
    <p:sldId id="259" r:id="rId4"/>
    <p:sldId id="261" r:id="rId5"/>
    <p:sldId id="260" r:id="rId6"/>
    <p:sldId id="270" r:id="rId7"/>
    <p:sldId id="262" r:id="rId8"/>
    <p:sldId id="263" r:id="rId9"/>
    <p:sldId id="264" r:id="rId10"/>
    <p:sldId id="265" r:id="rId11"/>
    <p:sldId id="266" r:id="rId12"/>
    <p:sldId id="267" r:id="rId13"/>
    <p:sldId id="268" r:id="rId14"/>
    <p:sldId id="269" r:id="rId15"/>
    <p:sldId id="271" r:id="rId16"/>
    <p:sldId id="272" r:id="rId17"/>
    <p:sldId id="273" r:id="rId18"/>
    <p:sldId id="27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3969" autoAdjust="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18B0282-EDB0-4E07-BE44-2C5C161005AE}"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IN"/>
        </a:p>
      </dgm:t>
    </dgm:pt>
    <dgm:pt modelId="{C2C98302-C5FD-4843-82F6-E655B6B3CB5C}">
      <dgm:prSet/>
      <dgm:spPr>
        <a:xfrm>
          <a:off x="4417947" y="822646"/>
          <a:ext cx="1175516" cy="764085"/>
        </a:xfrm>
      </dgm:spPr>
      <dgm:t>
        <a:bodyPr/>
        <a:lstStyle/>
        <a:p>
          <a:pPr>
            <a:lnSpc>
              <a:spcPct val="100000"/>
            </a:lnSpc>
          </a:pPr>
          <a:r>
            <a:rPr lang="en-US">
              <a:latin typeface="Corbel" panose="020B0503020204020204"/>
              <a:ea typeface="+mn-ea"/>
              <a:cs typeface="+mn-cs"/>
            </a:rPr>
            <a:t>UNDERSTANDING DATA AND BUSINESS PROBLEM</a:t>
          </a:r>
          <a:endParaRPr lang="en-IN">
            <a:latin typeface="Corbel" panose="020B0503020204020204"/>
            <a:ea typeface="+mn-ea"/>
            <a:cs typeface="+mn-cs"/>
          </a:endParaRPr>
        </a:p>
      </dgm:t>
    </dgm:pt>
    <dgm:pt modelId="{F0F4F4A1-4089-46DC-A84C-5215F17A691D}" type="parTrans" cxnId="{157E785A-216D-42A4-A2E2-4FDB16EE35BA}">
      <dgm:prSet/>
      <dgm:spPr/>
      <dgm:t>
        <a:bodyPr/>
        <a:lstStyle/>
        <a:p>
          <a:endParaRPr lang="en-IN"/>
        </a:p>
      </dgm:t>
    </dgm:pt>
    <dgm:pt modelId="{F07B44D1-16F9-4992-B8DB-9BD9E4344FC8}" type="sibTrans" cxnId="{157E785A-216D-42A4-A2E2-4FDB16EE35BA}">
      <dgm:prSet/>
      <dgm:spPr>
        <a:xfrm>
          <a:off x="1123812" y="384425"/>
          <a:ext cx="4357194" cy="4357194"/>
        </a:xfrm>
      </dgm:spPr>
      <dgm:t>
        <a:bodyPr/>
        <a:lstStyle/>
        <a:p>
          <a:pPr>
            <a:lnSpc>
              <a:spcPct val="100000"/>
            </a:lnSpc>
          </a:pPr>
          <a:endParaRPr lang="en-IN"/>
        </a:p>
      </dgm:t>
    </dgm:pt>
    <dgm:pt modelId="{03574317-FD3C-4C9A-BA5F-15376FDCBF75}">
      <dgm:prSet/>
      <dgm:spPr>
        <a:xfrm>
          <a:off x="4838627" y="2665763"/>
          <a:ext cx="1175516" cy="764085"/>
        </a:xfrm>
      </dgm:spPr>
      <dgm:t>
        <a:bodyPr/>
        <a:lstStyle/>
        <a:p>
          <a:pPr>
            <a:lnSpc>
              <a:spcPct val="100000"/>
            </a:lnSpc>
          </a:pPr>
          <a:r>
            <a:rPr lang="en-US">
              <a:latin typeface="Corbel" panose="020B0503020204020204"/>
              <a:ea typeface="+mn-ea"/>
              <a:cs typeface="+mn-cs"/>
            </a:rPr>
            <a:t> NEWLY ADDED COLUMNS</a:t>
          </a:r>
          <a:endParaRPr lang="en-IN">
            <a:latin typeface="Corbel" panose="020B0503020204020204"/>
            <a:ea typeface="+mn-ea"/>
            <a:cs typeface="+mn-cs"/>
          </a:endParaRPr>
        </a:p>
      </dgm:t>
    </dgm:pt>
    <dgm:pt modelId="{7D5283B8-9006-4761-8CD4-6508A4EBD4F2}" type="parTrans" cxnId="{04E52B17-6433-481D-A410-44C9CE674B9E}">
      <dgm:prSet/>
      <dgm:spPr/>
      <dgm:t>
        <a:bodyPr/>
        <a:lstStyle/>
        <a:p>
          <a:endParaRPr lang="en-IN"/>
        </a:p>
      </dgm:t>
    </dgm:pt>
    <dgm:pt modelId="{375CC065-E402-4245-8EEB-4DD8A2BE8E0E}" type="sibTrans" cxnId="{04E52B17-6433-481D-A410-44C9CE674B9E}">
      <dgm:prSet/>
      <dgm:spPr>
        <a:xfrm>
          <a:off x="1123812" y="384425"/>
          <a:ext cx="4357194" cy="4357194"/>
        </a:xfrm>
      </dgm:spPr>
      <dgm:t>
        <a:bodyPr/>
        <a:lstStyle/>
        <a:p>
          <a:pPr>
            <a:lnSpc>
              <a:spcPct val="100000"/>
            </a:lnSpc>
          </a:pPr>
          <a:endParaRPr lang="en-IN"/>
        </a:p>
      </dgm:t>
    </dgm:pt>
    <dgm:pt modelId="{FBFDF318-9651-4E4A-837F-116AAD720CAD}">
      <dgm:prSet/>
      <dgm:spPr>
        <a:xfrm>
          <a:off x="3659909" y="4143827"/>
          <a:ext cx="1175516" cy="764085"/>
        </a:xfrm>
      </dgm:spPr>
      <dgm:t>
        <a:bodyPr/>
        <a:lstStyle/>
        <a:p>
          <a:pPr>
            <a:lnSpc>
              <a:spcPct val="100000"/>
            </a:lnSpc>
          </a:pPr>
          <a:r>
            <a:rPr lang="en-US">
              <a:latin typeface="Corbel" panose="020B0503020204020204"/>
              <a:ea typeface="+mn-ea"/>
              <a:cs typeface="+mn-cs"/>
            </a:rPr>
            <a:t> PIVOT TABLE</a:t>
          </a:r>
          <a:endParaRPr lang="en-IN">
            <a:latin typeface="Corbel" panose="020B0503020204020204"/>
            <a:ea typeface="+mn-ea"/>
            <a:cs typeface="+mn-cs"/>
          </a:endParaRPr>
        </a:p>
      </dgm:t>
    </dgm:pt>
    <dgm:pt modelId="{A77E9D36-C044-4E2D-A6C4-1DC2CC8000B9}" type="parTrans" cxnId="{81BC2934-7D60-483C-85DE-D488B1F67683}">
      <dgm:prSet/>
      <dgm:spPr/>
      <dgm:t>
        <a:bodyPr/>
        <a:lstStyle/>
        <a:p>
          <a:endParaRPr lang="en-IN"/>
        </a:p>
      </dgm:t>
    </dgm:pt>
    <dgm:pt modelId="{DEC6BB5A-39DA-490F-85C7-D2A1F31DCB86}" type="sibTrans" cxnId="{81BC2934-7D60-483C-85DE-D488B1F67683}">
      <dgm:prSet/>
      <dgm:spPr>
        <a:xfrm>
          <a:off x="1123812" y="384425"/>
          <a:ext cx="4357194" cy="4357194"/>
        </a:xfrm>
      </dgm:spPr>
      <dgm:t>
        <a:bodyPr/>
        <a:lstStyle/>
        <a:p>
          <a:pPr>
            <a:lnSpc>
              <a:spcPct val="100000"/>
            </a:lnSpc>
          </a:pPr>
          <a:endParaRPr lang="en-IN"/>
        </a:p>
      </dgm:t>
    </dgm:pt>
    <dgm:pt modelId="{144B2EF6-9AFB-49F2-AA49-A2DB9AFB3D8B}">
      <dgm:prSet/>
      <dgm:spPr>
        <a:xfrm>
          <a:off x="590676" y="2665763"/>
          <a:ext cx="1175516" cy="764085"/>
        </a:xfrm>
      </dgm:spPr>
      <dgm:t>
        <a:bodyPr/>
        <a:lstStyle/>
        <a:p>
          <a:pPr>
            <a:lnSpc>
              <a:spcPct val="100000"/>
            </a:lnSpc>
          </a:pPr>
          <a:r>
            <a:rPr lang="en-US">
              <a:latin typeface="Corbel" panose="020B0503020204020204"/>
              <a:ea typeface="+mn-ea"/>
              <a:cs typeface="+mn-cs"/>
            </a:rPr>
            <a:t> PIVOT CHART ANALYSIS</a:t>
          </a:r>
          <a:endParaRPr lang="en-IN">
            <a:latin typeface="Corbel" panose="020B0503020204020204"/>
            <a:ea typeface="+mn-ea"/>
            <a:cs typeface="+mn-cs"/>
          </a:endParaRPr>
        </a:p>
      </dgm:t>
    </dgm:pt>
    <dgm:pt modelId="{D6C142B6-6F9B-4427-AC22-345EAFF771F1}" type="parTrans" cxnId="{D1F2033F-7ADF-409B-8D71-67D383F1E6E7}">
      <dgm:prSet/>
      <dgm:spPr/>
      <dgm:t>
        <a:bodyPr/>
        <a:lstStyle/>
        <a:p>
          <a:endParaRPr lang="en-IN"/>
        </a:p>
      </dgm:t>
    </dgm:pt>
    <dgm:pt modelId="{B28A774B-E3F9-453E-AB39-15170E585031}" type="sibTrans" cxnId="{D1F2033F-7ADF-409B-8D71-67D383F1E6E7}">
      <dgm:prSet/>
      <dgm:spPr>
        <a:xfrm>
          <a:off x="1123812" y="384425"/>
          <a:ext cx="4357194" cy="4357194"/>
        </a:xfrm>
      </dgm:spPr>
      <dgm:t>
        <a:bodyPr/>
        <a:lstStyle/>
        <a:p>
          <a:pPr>
            <a:lnSpc>
              <a:spcPct val="100000"/>
            </a:lnSpc>
          </a:pPr>
          <a:endParaRPr lang="en-IN"/>
        </a:p>
      </dgm:t>
    </dgm:pt>
    <dgm:pt modelId="{8B7E3CB0-3136-4862-AED9-8FEF0EAD1412}">
      <dgm:prSet/>
      <dgm:spPr>
        <a:xfrm>
          <a:off x="1011356" y="822646"/>
          <a:ext cx="1175516" cy="764085"/>
        </a:xfrm>
      </dgm:spPr>
      <dgm:t>
        <a:bodyPr/>
        <a:lstStyle/>
        <a:p>
          <a:pPr>
            <a:lnSpc>
              <a:spcPct val="100000"/>
            </a:lnSpc>
          </a:pPr>
          <a:r>
            <a:rPr lang="en-US">
              <a:latin typeface="Corbel" panose="020B0503020204020204"/>
              <a:ea typeface="+mn-ea"/>
              <a:cs typeface="+mn-cs"/>
            </a:rPr>
            <a:t> PRESENT FINAL INSIGHTS</a:t>
          </a:r>
          <a:endParaRPr lang="en-IN">
            <a:latin typeface="Corbel" panose="020B0503020204020204"/>
            <a:ea typeface="+mn-ea"/>
            <a:cs typeface="+mn-cs"/>
          </a:endParaRPr>
        </a:p>
      </dgm:t>
    </dgm:pt>
    <dgm:pt modelId="{5C921E8C-9AC3-4332-ACDB-05D691712702}" type="parTrans" cxnId="{C3255704-2E7C-4D0E-987A-6C82523B24C5}">
      <dgm:prSet/>
      <dgm:spPr/>
      <dgm:t>
        <a:bodyPr/>
        <a:lstStyle/>
        <a:p>
          <a:endParaRPr lang="en-IN"/>
        </a:p>
      </dgm:t>
    </dgm:pt>
    <dgm:pt modelId="{E23E7EAB-037E-45CC-8FEE-399E6E005755}" type="sibTrans" cxnId="{C3255704-2E7C-4D0E-987A-6C82523B24C5}">
      <dgm:prSet/>
      <dgm:spPr>
        <a:xfrm>
          <a:off x="1123812" y="384425"/>
          <a:ext cx="4357194" cy="4357194"/>
        </a:xfrm>
        <a:custGeom>
          <a:avLst/>
          <a:gdLst/>
          <a:ahLst/>
          <a:cxnLst/>
          <a:rect l="0" t="0" r="0" b="0"/>
          <a:pathLst>
            <a:path>
              <a:moveTo>
                <a:pt x="874559" y="433383"/>
              </a:moveTo>
              <a:arcTo wR="2178597" hR="2178597" stAng="13993958" swAng="1254223"/>
            </a:path>
          </a:pathLst>
        </a:custGeom>
      </dgm:spPr>
      <dgm:t>
        <a:bodyPr/>
        <a:lstStyle/>
        <a:p>
          <a:endParaRPr lang="en-IN"/>
        </a:p>
      </dgm:t>
    </dgm:pt>
    <dgm:pt modelId="{F5A22F69-9675-40E8-9962-406066AD2346}">
      <dgm:prSet/>
      <dgm:spPr>
        <a:xfrm>
          <a:off x="2714651" y="2382"/>
          <a:ext cx="1175516" cy="764085"/>
        </a:xfrm>
      </dgm:spPr>
      <dgm:t>
        <a:bodyPr/>
        <a:lstStyle/>
        <a:p>
          <a:pPr>
            <a:lnSpc>
              <a:spcPct val="100000"/>
            </a:lnSpc>
          </a:pPr>
          <a:r>
            <a:rPr lang="en-US">
              <a:latin typeface="Corbel" panose="020B0503020204020204"/>
              <a:ea typeface="+mn-ea"/>
              <a:cs typeface="+mn-cs"/>
            </a:rPr>
            <a:t> DATA CLEANING</a:t>
          </a:r>
          <a:endParaRPr lang="en-IN" b="1">
            <a:latin typeface="Corbel" panose="020B0503020204020204"/>
            <a:ea typeface="+mn-ea"/>
            <a:cs typeface="+mn-cs"/>
          </a:endParaRPr>
        </a:p>
      </dgm:t>
    </dgm:pt>
    <dgm:pt modelId="{9F5CDF76-2EC5-4B2A-A9A6-8ABBF17C1C0D}" type="parTrans" cxnId="{947F7286-A306-4DDC-B320-C51CA6242B07}">
      <dgm:prSet/>
      <dgm:spPr/>
      <dgm:t>
        <a:bodyPr/>
        <a:lstStyle/>
        <a:p>
          <a:endParaRPr lang="en-IN"/>
        </a:p>
      </dgm:t>
    </dgm:pt>
    <dgm:pt modelId="{14235892-5B57-4B0E-84DF-2D45EEE531A5}" type="sibTrans" cxnId="{947F7286-A306-4DDC-B320-C51CA6242B07}">
      <dgm:prSet/>
      <dgm:spPr>
        <a:xfrm>
          <a:off x="1123812" y="384425"/>
          <a:ext cx="4357194" cy="4357194"/>
        </a:xfrm>
      </dgm:spPr>
      <dgm:t>
        <a:bodyPr/>
        <a:lstStyle/>
        <a:p>
          <a:pPr>
            <a:lnSpc>
              <a:spcPct val="100000"/>
            </a:lnSpc>
          </a:pPr>
          <a:endParaRPr lang="en-IN"/>
        </a:p>
      </dgm:t>
    </dgm:pt>
    <dgm:pt modelId="{FB1898F2-7A10-4C73-AC01-D352C54AFD6F}" type="pres">
      <dgm:prSet presAssocID="{418B0282-EDB0-4E07-BE44-2C5C161005AE}" presName="root" presStyleCnt="0">
        <dgm:presLayoutVars>
          <dgm:dir/>
          <dgm:resizeHandles val="exact"/>
        </dgm:presLayoutVars>
      </dgm:prSet>
      <dgm:spPr/>
    </dgm:pt>
    <dgm:pt modelId="{F386C6B3-7CFA-4F1C-9B9F-DB349584FFCF}" type="pres">
      <dgm:prSet presAssocID="{418B0282-EDB0-4E07-BE44-2C5C161005AE}" presName="container" presStyleCnt="0">
        <dgm:presLayoutVars>
          <dgm:dir/>
          <dgm:resizeHandles val="exact"/>
        </dgm:presLayoutVars>
      </dgm:prSet>
      <dgm:spPr/>
    </dgm:pt>
    <dgm:pt modelId="{0BBDE0C4-0E38-4E51-9830-69491C5C5994}" type="pres">
      <dgm:prSet presAssocID="{F5A22F69-9675-40E8-9962-406066AD2346}" presName="compNode" presStyleCnt="0"/>
      <dgm:spPr/>
    </dgm:pt>
    <dgm:pt modelId="{A1FA99B3-81F2-47D1-9E99-CF83FDDF5F6E}" type="pres">
      <dgm:prSet presAssocID="{F5A22F69-9675-40E8-9962-406066AD2346}" presName="iconBgRect" presStyleLbl="bgShp" presStyleIdx="0" presStyleCnt="6"/>
      <dgm:spPr/>
    </dgm:pt>
    <dgm:pt modelId="{CA922049-7E5B-4514-880F-CA23034772B6}" type="pres">
      <dgm:prSet presAssocID="{F5A22F69-9675-40E8-9962-406066AD2346}"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Head with Gears"/>
        </a:ext>
      </dgm:extLst>
    </dgm:pt>
    <dgm:pt modelId="{9D391B7A-6EDF-4B36-BCCA-84ACE959EFCF}" type="pres">
      <dgm:prSet presAssocID="{F5A22F69-9675-40E8-9962-406066AD2346}" presName="spaceRect" presStyleCnt="0"/>
      <dgm:spPr/>
    </dgm:pt>
    <dgm:pt modelId="{8B6CF024-47FD-4426-9449-F945A2822DCE}" type="pres">
      <dgm:prSet presAssocID="{F5A22F69-9675-40E8-9962-406066AD2346}" presName="textRect" presStyleLbl="revTx" presStyleIdx="0" presStyleCnt="6">
        <dgm:presLayoutVars>
          <dgm:chMax val="1"/>
          <dgm:chPref val="1"/>
        </dgm:presLayoutVars>
      </dgm:prSet>
      <dgm:spPr/>
    </dgm:pt>
    <dgm:pt modelId="{40A9BECD-A7AE-41F7-9E2D-1A21FF8206B6}" type="pres">
      <dgm:prSet presAssocID="{14235892-5B57-4B0E-84DF-2D45EEE531A5}" presName="sibTrans" presStyleLbl="sibTrans2D1" presStyleIdx="0" presStyleCnt="0"/>
      <dgm:spPr/>
    </dgm:pt>
    <dgm:pt modelId="{4EC43389-DC45-4243-94F0-C3CCAFD6AB17}" type="pres">
      <dgm:prSet presAssocID="{C2C98302-C5FD-4843-82F6-E655B6B3CB5C}" presName="compNode" presStyleCnt="0"/>
      <dgm:spPr/>
    </dgm:pt>
    <dgm:pt modelId="{5EF9522B-5669-4EA6-9EC5-45A3AF835BCC}" type="pres">
      <dgm:prSet presAssocID="{C2C98302-C5FD-4843-82F6-E655B6B3CB5C}" presName="iconBgRect" presStyleLbl="bgShp" presStyleIdx="1" presStyleCnt="6"/>
      <dgm:spPr/>
    </dgm:pt>
    <dgm:pt modelId="{E888EC38-8FCA-47C1-A23B-F828B4C41F58}" type="pres">
      <dgm:prSet presAssocID="{C2C98302-C5FD-4843-82F6-E655B6B3CB5C}"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a:ext>
      </dgm:extLst>
    </dgm:pt>
    <dgm:pt modelId="{F6AEAE37-CE61-4E7D-8E4C-58F56B25B388}" type="pres">
      <dgm:prSet presAssocID="{C2C98302-C5FD-4843-82F6-E655B6B3CB5C}" presName="spaceRect" presStyleCnt="0"/>
      <dgm:spPr/>
    </dgm:pt>
    <dgm:pt modelId="{0050EE84-F348-46E1-BF35-99BDB2037E7E}" type="pres">
      <dgm:prSet presAssocID="{C2C98302-C5FD-4843-82F6-E655B6B3CB5C}" presName="textRect" presStyleLbl="revTx" presStyleIdx="1" presStyleCnt="6">
        <dgm:presLayoutVars>
          <dgm:chMax val="1"/>
          <dgm:chPref val="1"/>
        </dgm:presLayoutVars>
      </dgm:prSet>
      <dgm:spPr/>
    </dgm:pt>
    <dgm:pt modelId="{34EAABC0-A89E-4762-B7CA-BD2B6D10CC2C}" type="pres">
      <dgm:prSet presAssocID="{F07B44D1-16F9-4992-B8DB-9BD9E4344FC8}" presName="sibTrans" presStyleLbl="sibTrans2D1" presStyleIdx="0" presStyleCnt="0"/>
      <dgm:spPr/>
    </dgm:pt>
    <dgm:pt modelId="{37550B28-2F33-45C8-A30F-E60752F20BBB}" type="pres">
      <dgm:prSet presAssocID="{03574317-FD3C-4C9A-BA5F-15376FDCBF75}" presName="compNode" presStyleCnt="0"/>
      <dgm:spPr/>
    </dgm:pt>
    <dgm:pt modelId="{EBC10CC6-E9DF-4A26-BB09-0C8AC25BFB95}" type="pres">
      <dgm:prSet presAssocID="{03574317-FD3C-4C9A-BA5F-15376FDCBF75}" presName="iconBgRect" presStyleLbl="bgShp" presStyleIdx="2" presStyleCnt="6"/>
      <dgm:spPr/>
    </dgm:pt>
    <dgm:pt modelId="{552BE87A-EEEB-4BCF-9F0A-2E051176751B}" type="pres">
      <dgm:prSet presAssocID="{03574317-FD3C-4C9A-BA5F-15376FDCBF75}"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Table"/>
        </a:ext>
      </dgm:extLst>
    </dgm:pt>
    <dgm:pt modelId="{2C3C3EC1-ED3F-4EA8-A6F0-EE7AF9FB1B17}" type="pres">
      <dgm:prSet presAssocID="{03574317-FD3C-4C9A-BA5F-15376FDCBF75}" presName="spaceRect" presStyleCnt="0"/>
      <dgm:spPr/>
    </dgm:pt>
    <dgm:pt modelId="{C192D73B-945C-451A-9387-7D822BA1F78A}" type="pres">
      <dgm:prSet presAssocID="{03574317-FD3C-4C9A-BA5F-15376FDCBF75}" presName="textRect" presStyleLbl="revTx" presStyleIdx="2" presStyleCnt="6">
        <dgm:presLayoutVars>
          <dgm:chMax val="1"/>
          <dgm:chPref val="1"/>
        </dgm:presLayoutVars>
      </dgm:prSet>
      <dgm:spPr/>
    </dgm:pt>
    <dgm:pt modelId="{57C9A817-98D6-4A3F-9233-8080D9C36303}" type="pres">
      <dgm:prSet presAssocID="{375CC065-E402-4245-8EEB-4DD8A2BE8E0E}" presName="sibTrans" presStyleLbl="sibTrans2D1" presStyleIdx="0" presStyleCnt="0"/>
      <dgm:spPr>
        <a:custGeom>
          <a:avLst/>
          <a:gdLst/>
          <a:ahLst/>
          <a:cxnLst/>
          <a:rect l="0" t="0" r="0" b="0"/>
          <a:pathLst>
            <a:path>
              <a:moveTo>
                <a:pt x="4173837" y="3053411"/>
              </a:moveTo>
              <a:arcTo wR="2178597" hR="2178597" stAng="1420504" swAng="1356908"/>
            </a:path>
          </a:pathLst>
        </a:custGeom>
      </dgm:spPr>
    </dgm:pt>
    <dgm:pt modelId="{7547FF29-DC01-4425-BF22-5C2B501366CF}" type="pres">
      <dgm:prSet presAssocID="{FBFDF318-9651-4E4A-837F-116AAD720CAD}" presName="compNode" presStyleCnt="0"/>
      <dgm:spPr/>
    </dgm:pt>
    <dgm:pt modelId="{EDBD89CE-7B4C-476F-B5CC-F7611B722617}" type="pres">
      <dgm:prSet presAssocID="{FBFDF318-9651-4E4A-837F-116AAD720CAD}" presName="iconBgRect" presStyleLbl="bgShp" presStyleIdx="3" presStyleCnt="6"/>
      <dgm:spPr/>
    </dgm:pt>
    <dgm:pt modelId="{A2198E50-7DF2-4B45-BD4D-A00A3CF77E3A}" type="pres">
      <dgm:prSet presAssocID="{FBFDF318-9651-4E4A-837F-116AAD720CAD}"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071412F7-C495-47AC-AE6C-B456799E7716}" type="pres">
      <dgm:prSet presAssocID="{FBFDF318-9651-4E4A-837F-116AAD720CAD}" presName="spaceRect" presStyleCnt="0"/>
      <dgm:spPr/>
    </dgm:pt>
    <dgm:pt modelId="{643305C0-D597-4501-8B89-DE2632348C9B}" type="pres">
      <dgm:prSet presAssocID="{FBFDF318-9651-4E4A-837F-116AAD720CAD}" presName="textRect" presStyleLbl="revTx" presStyleIdx="3" presStyleCnt="6">
        <dgm:presLayoutVars>
          <dgm:chMax val="1"/>
          <dgm:chPref val="1"/>
        </dgm:presLayoutVars>
      </dgm:prSet>
      <dgm:spPr/>
    </dgm:pt>
    <dgm:pt modelId="{D04240DB-4D9D-4A91-B848-D26676245AD4}" type="pres">
      <dgm:prSet presAssocID="{DEC6BB5A-39DA-490F-85C7-D2A1F31DCB86}" presName="sibTrans" presStyleLbl="sibTrans2D1" presStyleIdx="0" presStyleCnt="0"/>
      <dgm:spPr>
        <a:custGeom>
          <a:avLst/>
          <a:gdLst/>
          <a:ahLst/>
          <a:cxnLst/>
          <a:rect l="0" t="0" r="0" b="0"/>
          <a:pathLst>
            <a:path>
              <a:moveTo>
                <a:pt x="2529041" y="4328823"/>
              </a:moveTo>
              <a:arcTo wR="2178597" hR="2178597" stAng="4844598" swAng="1110804"/>
            </a:path>
          </a:pathLst>
        </a:custGeom>
      </dgm:spPr>
    </dgm:pt>
    <dgm:pt modelId="{C29B23AB-852D-4A59-A1B1-AD05C188EA5C}" type="pres">
      <dgm:prSet presAssocID="{144B2EF6-9AFB-49F2-AA49-A2DB9AFB3D8B}" presName="compNode" presStyleCnt="0"/>
      <dgm:spPr/>
    </dgm:pt>
    <dgm:pt modelId="{43D56A47-81FE-4074-B771-C2C1994A9600}" type="pres">
      <dgm:prSet presAssocID="{144B2EF6-9AFB-49F2-AA49-A2DB9AFB3D8B}" presName="iconBgRect" presStyleLbl="bgShp" presStyleIdx="4" presStyleCnt="6"/>
      <dgm:spPr/>
    </dgm:pt>
    <dgm:pt modelId="{C5385448-BBE3-407E-A699-536E309845F8}" type="pres">
      <dgm:prSet presAssocID="{144B2EF6-9AFB-49F2-AA49-A2DB9AFB3D8B}"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Lightbulb"/>
        </a:ext>
      </dgm:extLst>
    </dgm:pt>
    <dgm:pt modelId="{BE114253-CC9E-4B9A-8792-494B4B93FF36}" type="pres">
      <dgm:prSet presAssocID="{144B2EF6-9AFB-49F2-AA49-A2DB9AFB3D8B}" presName="spaceRect" presStyleCnt="0"/>
      <dgm:spPr/>
    </dgm:pt>
    <dgm:pt modelId="{19000062-76A3-4C84-8CC8-492B50F8C236}" type="pres">
      <dgm:prSet presAssocID="{144B2EF6-9AFB-49F2-AA49-A2DB9AFB3D8B}" presName="textRect" presStyleLbl="revTx" presStyleIdx="4" presStyleCnt="6">
        <dgm:presLayoutVars>
          <dgm:chMax val="1"/>
          <dgm:chPref val="1"/>
        </dgm:presLayoutVars>
      </dgm:prSet>
      <dgm:spPr/>
    </dgm:pt>
    <dgm:pt modelId="{B4D25F4F-D11C-4F1A-A5DC-A9FA82E8D51B}" type="pres">
      <dgm:prSet presAssocID="{B28A774B-E3F9-453E-AB39-15170E585031}" presName="sibTrans" presStyleLbl="sibTrans2D1" presStyleIdx="0" presStyleCnt="0"/>
      <dgm:spPr>
        <a:custGeom>
          <a:avLst/>
          <a:gdLst/>
          <a:ahLst/>
          <a:cxnLst/>
          <a:rect l="0" t="0" r="0" b="0"/>
          <a:pathLst>
            <a:path>
              <a:moveTo>
                <a:pt x="1931" y="2270319"/>
              </a:moveTo>
              <a:arcTo wR="2178597" hR="2178597" stAng="10655223" swAng="1724791"/>
            </a:path>
          </a:pathLst>
        </a:custGeom>
      </dgm:spPr>
    </dgm:pt>
    <dgm:pt modelId="{70F4FB0A-EC78-4792-8F45-D96A50EB9675}" type="pres">
      <dgm:prSet presAssocID="{8B7E3CB0-3136-4862-AED9-8FEF0EAD1412}" presName="compNode" presStyleCnt="0"/>
      <dgm:spPr/>
    </dgm:pt>
    <dgm:pt modelId="{817A300B-DF1A-4DDE-9C9E-EA11233F9E34}" type="pres">
      <dgm:prSet presAssocID="{8B7E3CB0-3136-4862-AED9-8FEF0EAD1412}" presName="iconBgRect" presStyleLbl="bgShp" presStyleIdx="5" presStyleCnt="6"/>
      <dgm:spPr/>
    </dgm:pt>
    <dgm:pt modelId="{29E4C1E0-3F7A-4D6D-9D28-3027D97BC957}" type="pres">
      <dgm:prSet presAssocID="{8B7E3CB0-3136-4862-AED9-8FEF0EAD1412}"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op and bucket"/>
        </a:ext>
      </dgm:extLst>
    </dgm:pt>
    <dgm:pt modelId="{5E21ADFB-FE01-42F6-B9DF-7B582C7727D7}" type="pres">
      <dgm:prSet presAssocID="{8B7E3CB0-3136-4862-AED9-8FEF0EAD1412}" presName="spaceRect" presStyleCnt="0"/>
      <dgm:spPr/>
    </dgm:pt>
    <dgm:pt modelId="{9B916A1E-3C48-4A18-B2F5-1B1E31A3549B}" type="pres">
      <dgm:prSet presAssocID="{8B7E3CB0-3136-4862-AED9-8FEF0EAD1412}" presName="textRect" presStyleLbl="revTx" presStyleIdx="5" presStyleCnt="6">
        <dgm:presLayoutVars>
          <dgm:chMax val="1"/>
          <dgm:chPref val="1"/>
        </dgm:presLayoutVars>
      </dgm:prSet>
      <dgm:spPr/>
    </dgm:pt>
  </dgm:ptLst>
  <dgm:cxnLst>
    <dgm:cxn modelId="{C3255704-2E7C-4D0E-987A-6C82523B24C5}" srcId="{418B0282-EDB0-4E07-BE44-2C5C161005AE}" destId="{8B7E3CB0-3136-4862-AED9-8FEF0EAD1412}" srcOrd="5" destOrd="0" parTransId="{5C921E8C-9AC3-4332-ACDB-05D691712702}" sibTransId="{E23E7EAB-037E-45CC-8FEE-399E6E005755}"/>
    <dgm:cxn modelId="{CF801410-F898-4F3A-AB90-DA0D142C3EA2}" type="presOf" srcId="{C2C98302-C5FD-4843-82F6-E655B6B3CB5C}" destId="{0050EE84-F348-46E1-BF35-99BDB2037E7E}" srcOrd="0" destOrd="0" presId="urn:microsoft.com/office/officeart/2018/2/layout/IconCircleList"/>
    <dgm:cxn modelId="{04E52B17-6433-481D-A410-44C9CE674B9E}" srcId="{418B0282-EDB0-4E07-BE44-2C5C161005AE}" destId="{03574317-FD3C-4C9A-BA5F-15376FDCBF75}" srcOrd="2" destOrd="0" parTransId="{7D5283B8-9006-4761-8CD4-6508A4EBD4F2}" sibTransId="{375CC065-E402-4245-8EEB-4DD8A2BE8E0E}"/>
    <dgm:cxn modelId="{291B5A23-8452-49B1-92FD-2545D97F25C4}" type="presOf" srcId="{F5A22F69-9675-40E8-9962-406066AD2346}" destId="{8B6CF024-47FD-4426-9449-F945A2822DCE}" srcOrd="0" destOrd="0" presId="urn:microsoft.com/office/officeart/2018/2/layout/IconCircleList"/>
    <dgm:cxn modelId="{81BC2934-7D60-483C-85DE-D488B1F67683}" srcId="{418B0282-EDB0-4E07-BE44-2C5C161005AE}" destId="{FBFDF318-9651-4E4A-837F-116AAD720CAD}" srcOrd="3" destOrd="0" parTransId="{A77E9D36-C044-4E2D-A6C4-1DC2CC8000B9}" sibTransId="{DEC6BB5A-39DA-490F-85C7-D2A1F31DCB86}"/>
    <dgm:cxn modelId="{D1F2033F-7ADF-409B-8D71-67D383F1E6E7}" srcId="{418B0282-EDB0-4E07-BE44-2C5C161005AE}" destId="{144B2EF6-9AFB-49F2-AA49-A2DB9AFB3D8B}" srcOrd="4" destOrd="0" parTransId="{D6C142B6-6F9B-4427-AC22-345EAFF771F1}" sibTransId="{B28A774B-E3F9-453E-AB39-15170E585031}"/>
    <dgm:cxn modelId="{26356363-D3C5-46F8-90A8-9F43B7BC2712}" type="presOf" srcId="{418B0282-EDB0-4E07-BE44-2C5C161005AE}" destId="{FB1898F2-7A10-4C73-AC01-D352C54AFD6F}" srcOrd="0" destOrd="0" presId="urn:microsoft.com/office/officeart/2018/2/layout/IconCircleList"/>
    <dgm:cxn modelId="{93F19668-C88A-48FB-9469-FC6B101D0321}" type="presOf" srcId="{DEC6BB5A-39DA-490F-85C7-D2A1F31DCB86}" destId="{D04240DB-4D9D-4A91-B848-D26676245AD4}" srcOrd="0" destOrd="0" presId="urn:microsoft.com/office/officeart/2018/2/layout/IconCircleList"/>
    <dgm:cxn modelId="{64F5D751-C6CE-4BCA-AC63-96921A9B4878}" type="presOf" srcId="{03574317-FD3C-4C9A-BA5F-15376FDCBF75}" destId="{C192D73B-945C-451A-9387-7D822BA1F78A}" srcOrd="0" destOrd="0" presId="urn:microsoft.com/office/officeart/2018/2/layout/IconCircleList"/>
    <dgm:cxn modelId="{84CABF75-5E65-4DA7-82E8-B636679413A7}" type="presOf" srcId="{B28A774B-E3F9-453E-AB39-15170E585031}" destId="{B4D25F4F-D11C-4F1A-A5DC-A9FA82E8D51B}" srcOrd="0" destOrd="0" presId="urn:microsoft.com/office/officeart/2018/2/layout/IconCircleList"/>
    <dgm:cxn modelId="{157E785A-216D-42A4-A2E2-4FDB16EE35BA}" srcId="{418B0282-EDB0-4E07-BE44-2C5C161005AE}" destId="{C2C98302-C5FD-4843-82F6-E655B6B3CB5C}" srcOrd="1" destOrd="0" parTransId="{F0F4F4A1-4089-46DC-A84C-5215F17A691D}" sibTransId="{F07B44D1-16F9-4992-B8DB-9BD9E4344FC8}"/>
    <dgm:cxn modelId="{947F7286-A306-4DDC-B320-C51CA6242B07}" srcId="{418B0282-EDB0-4E07-BE44-2C5C161005AE}" destId="{F5A22F69-9675-40E8-9962-406066AD2346}" srcOrd="0" destOrd="0" parTransId="{9F5CDF76-2EC5-4B2A-A9A6-8ABBF17C1C0D}" sibTransId="{14235892-5B57-4B0E-84DF-2D45EEE531A5}"/>
    <dgm:cxn modelId="{153E53C8-FB84-4C1C-8DD8-6E37994EFB03}" type="presOf" srcId="{8B7E3CB0-3136-4862-AED9-8FEF0EAD1412}" destId="{9B916A1E-3C48-4A18-B2F5-1B1E31A3549B}" srcOrd="0" destOrd="0" presId="urn:microsoft.com/office/officeart/2018/2/layout/IconCircleList"/>
    <dgm:cxn modelId="{9ABF56CA-9ADE-4A7F-A1CB-B03BCE2CC74A}" type="presOf" srcId="{F07B44D1-16F9-4992-B8DB-9BD9E4344FC8}" destId="{34EAABC0-A89E-4762-B7CA-BD2B6D10CC2C}" srcOrd="0" destOrd="0" presId="urn:microsoft.com/office/officeart/2018/2/layout/IconCircleList"/>
    <dgm:cxn modelId="{1C1057D0-63C5-4A5D-8304-967B3BF7E928}" type="presOf" srcId="{375CC065-E402-4245-8EEB-4DD8A2BE8E0E}" destId="{57C9A817-98D6-4A3F-9233-8080D9C36303}" srcOrd="0" destOrd="0" presId="urn:microsoft.com/office/officeart/2018/2/layout/IconCircleList"/>
    <dgm:cxn modelId="{828EE4D8-096C-4ACA-8809-6C79B9C73436}" type="presOf" srcId="{FBFDF318-9651-4E4A-837F-116AAD720CAD}" destId="{643305C0-D597-4501-8B89-DE2632348C9B}" srcOrd="0" destOrd="0" presId="urn:microsoft.com/office/officeart/2018/2/layout/IconCircleList"/>
    <dgm:cxn modelId="{0EBEE3F3-2D76-4F55-BAD0-FFA7BB4577EE}" type="presOf" srcId="{144B2EF6-9AFB-49F2-AA49-A2DB9AFB3D8B}" destId="{19000062-76A3-4C84-8CC8-492B50F8C236}" srcOrd="0" destOrd="0" presId="urn:microsoft.com/office/officeart/2018/2/layout/IconCircleList"/>
    <dgm:cxn modelId="{812E8BFA-5C87-4E2A-8885-C5F21DDD7CA9}" type="presOf" srcId="{14235892-5B57-4B0E-84DF-2D45EEE531A5}" destId="{40A9BECD-A7AE-41F7-9E2D-1A21FF8206B6}" srcOrd="0" destOrd="0" presId="urn:microsoft.com/office/officeart/2018/2/layout/IconCircleList"/>
    <dgm:cxn modelId="{8795FBC3-3BC1-4863-9677-0E2DB28B639B}" type="presParOf" srcId="{FB1898F2-7A10-4C73-AC01-D352C54AFD6F}" destId="{F386C6B3-7CFA-4F1C-9B9F-DB349584FFCF}" srcOrd="0" destOrd="0" presId="urn:microsoft.com/office/officeart/2018/2/layout/IconCircleList"/>
    <dgm:cxn modelId="{9CFA3E4A-DBD8-4B49-8CA0-294E816728C3}" type="presParOf" srcId="{F386C6B3-7CFA-4F1C-9B9F-DB349584FFCF}" destId="{0BBDE0C4-0E38-4E51-9830-69491C5C5994}" srcOrd="0" destOrd="0" presId="urn:microsoft.com/office/officeart/2018/2/layout/IconCircleList"/>
    <dgm:cxn modelId="{2FEF0834-0E45-4D78-ABE7-9AF863F133DE}" type="presParOf" srcId="{0BBDE0C4-0E38-4E51-9830-69491C5C5994}" destId="{A1FA99B3-81F2-47D1-9E99-CF83FDDF5F6E}" srcOrd="0" destOrd="0" presId="urn:microsoft.com/office/officeart/2018/2/layout/IconCircleList"/>
    <dgm:cxn modelId="{A5B7ED42-6295-47C3-9705-6F5D9B7BA733}" type="presParOf" srcId="{0BBDE0C4-0E38-4E51-9830-69491C5C5994}" destId="{CA922049-7E5B-4514-880F-CA23034772B6}" srcOrd="1" destOrd="0" presId="urn:microsoft.com/office/officeart/2018/2/layout/IconCircleList"/>
    <dgm:cxn modelId="{7D2D990A-1C96-41FB-803D-6A5E8B837B8C}" type="presParOf" srcId="{0BBDE0C4-0E38-4E51-9830-69491C5C5994}" destId="{9D391B7A-6EDF-4B36-BCCA-84ACE959EFCF}" srcOrd="2" destOrd="0" presId="urn:microsoft.com/office/officeart/2018/2/layout/IconCircleList"/>
    <dgm:cxn modelId="{D6E0B63C-B066-4CE3-8A78-66C6EEC8A5CC}" type="presParOf" srcId="{0BBDE0C4-0E38-4E51-9830-69491C5C5994}" destId="{8B6CF024-47FD-4426-9449-F945A2822DCE}" srcOrd="3" destOrd="0" presId="urn:microsoft.com/office/officeart/2018/2/layout/IconCircleList"/>
    <dgm:cxn modelId="{433535B0-BE92-4E67-A298-AEF6323F74E7}" type="presParOf" srcId="{F386C6B3-7CFA-4F1C-9B9F-DB349584FFCF}" destId="{40A9BECD-A7AE-41F7-9E2D-1A21FF8206B6}" srcOrd="1" destOrd="0" presId="urn:microsoft.com/office/officeart/2018/2/layout/IconCircleList"/>
    <dgm:cxn modelId="{85FF6A53-BD99-4803-B5BC-111603534372}" type="presParOf" srcId="{F386C6B3-7CFA-4F1C-9B9F-DB349584FFCF}" destId="{4EC43389-DC45-4243-94F0-C3CCAFD6AB17}" srcOrd="2" destOrd="0" presId="urn:microsoft.com/office/officeart/2018/2/layout/IconCircleList"/>
    <dgm:cxn modelId="{47D8A373-4A75-4C7D-8C5C-642E792D317D}" type="presParOf" srcId="{4EC43389-DC45-4243-94F0-C3CCAFD6AB17}" destId="{5EF9522B-5669-4EA6-9EC5-45A3AF835BCC}" srcOrd="0" destOrd="0" presId="urn:microsoft.com/office/officeart/2018/2/layout/IconCircleList"/>
    <dgm:cxn modelId="{B47B2D80-0750-4DA5-B8F1-29AF68CE0B00}" type="presParOf" srcId="{4EC43389-DC45-4243-94F0-C3CCAFD6AB17}" destId="{E888EC38-8FCA-47C1-A23B-F828B4C41F58}" srcOrd="1" destOrd="0" presId="urn:microsoft.com/office/officeart/2018/2/layout/IconCircleList"/>
    <dgm:cxn modelId="{8D8EE139-B080-4B3E-9C77-74F3109661C8}" type="presParOf" srcId="{4EC43389-DC45-4243-94F0-C3CCAFD6AB17}" destId="{F6AEAE37-CE61-4E7D-8E4C-58F56B25B388}" srcOrd="2" destOrd="0" presId="urn:microsoft.com/office/officeart/2018/2/layout/IconCircleList"/>
    <dgm:cxn modelId="{D95DD444-6956-4BBB-8FC6-1BE8EF0B4546}" type="presParOf" srcId="{4EC43389-DC45-4243-94F0-C3CCAFD6AB17}" destId="{0050EE84-F348-46E1-BF35-99BDB2037E7E}" srcOrd="3" destOrd="0" presId="urn:microsoft.com/office/officeart/2018/2/layout/IconCircleList"/>
    <dgm:cxn modelId="{303EC099-3F1B-4E15-B537-7E4E31E58303}" type="presParOf" srcId="{F386C6B3-7CFA-4F1C-9B9F-DB349584FFCF}" destId="{34EAABC0-A89E-4762-B7CA-BD2B6D10CC2C}" srcOrd="3" destOrd="0" presId="urn:microsoft.com/office/officeart/2018/2/layout/IconCircleList"/>
    <dgm:cxn modelId="{A4554928-67AF-4B91-A5C8-D2F46F5823C0}" type="presParOf" srcId="{F386C6B3-7CFA-4F1C-9B9F-DB349584FFCF}" destId="{37550B28-2F33-45C8-A30F-E60752F20BBB}" srcOrd="4" destOrd="0" presId="urn:microsoft.com/office/officeart/2018/2/layout/IconCircleList"/>
    <dgm:cxn modelId="{DF48453C-25AB-4C9F-9150-8517730EAB36}" type="presParOf" srcId="{37550B28-2F33-45C8-A30F-E60752F20BBB}" destId="{EBC10CC6-E9DF-4A26-BB09-0C8AC25BFB95}" srcOrd="0" destOrd="0" presId="urn:microsoft.com/office/officeart/2018/2/layout/IconCircleList"/>
    <dgm:cxn modelId="{4D85C7C9-236B-4BF6-9B0A-0DCB1D58DAFE}" type="presParOf" srcId="{37550B28-2F33-45C8-A30F-E60752F20BBB}" destId="{552BE87A-EEEB-4BCF-9F0A-2E051176751B}" srcOrd="1" destOrd="0" presId="urn:microsoft.com/office/officeart/2018/2/layout/IconCircleList"/>
    <dgm:cxn modelId="{85193F7F-736F-4333-A9BE-62F1BEF8AF5B}" type="presParOf" srcId="{37550B28-2F33-45C8-A30F-E60752F20BBB}" destId="{2C3C3EC1-ED3F-4EA8-A6F0-EE7AF9FB1B17}" srcOrd="2" destOrd="0" presId="urn:microsoft.com/office/officeart/2018/2/layout/IconCircleList"/>
    <dgm:cxn modelId="{750D3B8E-4007-4CF8-906A-5D40575CE3E0}" type="presParOf" srcId="{37550B28-2F33-45C8-A30F-E60752F20BBB}" destId="{C192D73B-945C-451A-9387-7D822BA1F78A}" srcOrd="3" destOrd="0" presId="urn:microsoft.com/office/officeart/2018/2/layout/IconCircleList"/>
    <dgm:cxn modelId="{B46EA2D0-4A9D-4056-B7FF-2FC04BAB8CB1}" type="presParOf" srcId="{F386C6B3-7CFA-4F1C-9B9F-DB349584FFCF}" destId="{57C9A817-98D6-4A3F-9233-8080D9C36303}" srcOrd="5" destOrd="0" presId="urn:microsoft.com/office/officeart/2018/2/layout/IconCircleList"/>
    <dgm:cxn modelId="{3CB92192-08E3-4967-AAF1-8AE5F68883D6}" type="presParOf" srcId="{F386C6B3-7CFA-4F1C-9B9F-DB349584FFCF}" destId="{7547FF29-DC01-4425-BF22-5C2B501366CF}" srcOrd="6" destOrd="0" presId="urn:microsoft.com/office/officeart/2018/2/layout/IconCircleList"/>
    <dgm:cxn modelId="{6101B4A9-DCEA-4720-ABB4-CB8A3D56223C}" type="presParOf" srcId="{7547FF29-DC01-4425-BF22-5C2B501366CF}" destId="{EDBD89CE-7B4C-476F-B5CC-F7611B722617}" srcOrd="0" destOrd="0" presId="urn:microsoft.com/office/officeart/2018/2/layout/IconCircleList"/>
    <dgm:cxn modelId="{C9BF499D-FC2B-4AF2-ADA7-496D32B16C74}" type="presParOf" srcId="{7547FF29-DC01-4425-BF22-5C2B501366CF}" destId="{A2198E50-7DF2-4B45-BD4D-A00A3CF77E3A}" srcOrd="1" destOrd="0" presId="urn:microsoft.com/office/officeart/2018/2/layout/IconCircleList"/>
    <dgm:cxn modelId="{4567CEC6-3512-485A-8EF6-B678AA5C7876}" type="presParOf" srcId="{7547FF29-DC01-4425-BF22-5C2B501366CF}" destId="{071412F7-C495-47AC-AE6C-B456799E7716}" srcOrd="2" destOrd="0" presId="urn:microsoft.com/office/officeart/2018/2/layout/IconCircleList"/>
    <dgm:cxn modelId="{3273D00E-F527-4BE1-A884-E08D200F723D}" type="presParOf" srcId="{7547FF29-DC01-4425-BF22-5C2B501366CF}" destId="{643305C0-D597-4501-8B89-DE2632348C9B}" srcOrd="3" destOrd="0" presId="urn:microsoft.com/office/officeart/2018/2/layout/IconCircleList"/>
    <dgm:cxn modelId="{2336FC59-55ED-4CF0-BC47-895634D73CA0}" type="presParOf" srcId="{F386C6B3-7CFA-4F1C-9B9F-DB349584FFCF}" destId="{D04240DB-4D9D-4A91-B848-D26676245AD4}" srcOrd="7" destOrd="0" presId="urn:microsoft.com/office/officeart/2018/2/layout/IconCircleList"/>
    <dgm:cxn modelId="{BA08B523-CC83-4A00-8447-6E7E41E92F22}" type="presParOf" srcId="{F386C6B3-7CFA-4F1C-9B9F-DB349584FFCF}" destId="{C29B23AB-852D-4A59-A1B1-AD05C188EA5C}" srcOrd="8" destOrd="0" presId="urn:microsoft.com/office/officeart/2018/2/layout/IconCircleList"/>
    <dgm:cxn modelId="{4266EA73-9FEC-4C8E-B3B5-443B5BAAC791}" type="presParOf" srcId="{C29B23AB-852D-4A59-A1B1-AD05C188EA5C}" destId="{43D56A47-81FE-4074-B771-C2C1994A9600}" srcOrd="0" destOrd="0" presId="urn:microsoft.com/office/officeart/2018/2/layout/IconCircleList"/>
    <dgm:cxn modelId="{CF5689E6-4228-4904-A366-5D6A63CA4F19}" type="presParOf" srcId="{C29B23AB-852D-4A59-A1B1-AD05C188EA5C}" destId="{C5385448-BBE3-407E-A699-536E309845F8}" srcOrd="1" destOrd="0" presId="urn:microsoft.com/office/officeart/2018/2/layout/IconCircleList"/>
    <dgm:cxn modelId="{81382628-F937-46A0-A695-9D9701BB875E}" type="presParOf" srcId="{C29B23AB-852D-4A59-A1B1-AD05C188EA5C}" destId="{BE114253-CC9E-4B9A-8792-494B4B93FF36}" srcOrd="2" destOrd="0" presId="urn:microsoft.com/office/officeart/2018/2/layout/IconCircleList"/>
    <dgm:cxn modelId="{A21994EE-995A-4AD2-8B33-283E5E4E2DEE}" type="presParOf" srcId="{C29B23AB-852D-4A59-A1B1-AD05C188EA5C}" destId="{19000062-76A3-4C84-8CC8-492B50F8C236}" srcOrd="3" destOrd="0" presId="urn:microsoft.com/office/officeart/2018/2/layout/IconCircleList"/>
    <dgm:cxn modelId="{0391A228-A8CF-4912-BBF0-8C491400C970}" type="presParOf" srcId="{F386C6B3-7CFA-4F1C-9B9F-DB349584FFCF}" destId="{B4D25F4F-D11C-4F1A-A5DC-A9FA82E8D51B}" srcOrd="9" destOrd="0" presId="urn:microsoft.com/office/officeart/2018/2/layout/IconCircleList"/>
    <dgm:cxn modelId="{E694FD59-1877-43E5-9E9D-8B823E51B47F}" type="presParOf" srcId="{F386C6B3-7CFA-4F1C-9B9F-DB349584FFCF}" destId="{70F4FB0A-EC78-4792-8F45-D96A50EB9675}" srcOrd="10" destOrd="0" presId="urn:microsoft.com/office/officeart/2018/2/layout/IconCircleList"/>
    <dgm:cxn modelId="{ECA7A206-9A74-4D1C-BEAF-536F1E1EC00A}" type="presParOf" srcId="{70F4FB0A-EC78-4792-8F45-D96A50EB9675}" destId="{817A300B-DF1A-4DDE-9C9E-EA11233F9E34}" srcOrd="0" destOrd="0" presId="urn:microsoft.com/office/officeart/2018/2/layout/IconCircleList"/>
    <dgm:cxn modelId="{85EFB264-F157-4E04-BB90-C8FE30D3AFFF}" type="presParOf" srcId="{70F4FB0A-EC78-4792-8F45-D96A50EB9675}" destId="{29E4C1E0-3F7A-4D6D-9D28-3027D97BC957}" srcOrd="1" destOrd="0" presId="urn:microsoft.com/office/officeart/2018/2/layout/IconCircleList"/>
    <dgm:cxn modelId="{93237160-5545-4E71-98B1-482238328668}" type="presParOf" srcId="{70F4FB0A-EC78-4792-8F45-D96A50EB9675}" destId="{5E21ADFB-FE01-42F6-B9DF-7B582C7727D7}" srcOrd="2" destOrd="0" presId="urn:microsoft.com/office/officeart/2018/2/layout/IconCircleList"/>
    <dgm:cxn modelId="{1EA3CA1F-22F4-4E4A-A43B-AA0F7DF29D15}" type="presParOf" srcId="{70F4FB0A-EC78-4792-8F45-D96A50EB9675}" destId="{9B916A1E-3C48-4A18-B2F5-1B1E31A3549B}" srcOrd="3" destOrd="0" presId="urn:microsoft.com/office/officeart/2018/2/layout/IconCircle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FA99B3-81F2-47D1-9E99-CF83FDDF5F6E}">
      <dsp:nvSpPr>
        <dsp:cNvPr id="0" name=""/>
        <dsp:cNvSpPr/>
      </dsp:nvSpPr>
      <dsp:spPr>
        <a:xfrm>
          <a:off x="195832" y="502237"/>
          <a:ext cx="910537" cy="91053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922049-7E5B-4514-880F-CA23034772B6}">
      <dsp:nvSpPr>
        <dsp:cNvPr id="0" name=""/>
        <dsp:cNvSpPr/>
      </dsp:nvSpPr>
      <dsp:spPr>
        <a:xfrm>
          <a:off x="387045" y="693449"/>
          <a:ext cx="528112" cy="5281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B6CF024-47FD-4426-9449-F945A2822DCE}">
      <dsp:nvSpPr>
        <dsp:cNvPr id="0" name=""/>
        <dsp:cNvSpPr/>
      </dsp:nvSpPr>
      <dsp:spPr>
        <a:xfrm>
          <a:off x="1301485" y="502237"/>
          <a:ext cx="2146268" cy="910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a:latin typeface="Corbel" panose="020B0503020204020204"/>
              <a:ea typeface="+mn-ea"/>
              <a:cs typeface="+mn-cs"/>
            </a:rPr>
            <a:t> DATA CLEANING</a:t>
          </a:r>
          <a:endParaRPr lang="en-IN" sz="1800" b="1" kern="1200">
            <a:latin typeface="Corbel" panose="020B0503020204020204"/>
            <a:ea typeface="+mn-ea"/>
            <a:cs typeface="+mn-cs"/>
          </a:endParaRPr>
        </a:p>
      </dsp:txBody>
      <dsp:txXfrm>
        <a:off x="1301485" y="502237"/>
        <a:ext cx="2146268" cy="910537"/>
      </dsp:txXfrm>
    </dsp:sp>
    <dsp:sp modelId="{5EF9522B-5669-4EA6-9EC5-45A3AF835BCC}">
      <dsp:nvSpPr>
        <dsp:cNvPr id="0" name=""/>
        <dsp:cNvSpPr/>
      </dsp:nvSpPr>
      <dsp:spPr>
        <a:xfrm>
          <a:off x="3821724" y="502237"/>
          <a:ext cx="910537" cy="910537"/>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88EC38-8FCA-47C1-A23B-F828B4C41F58}">
      <dsp:nvSpPr>
        <dsp:cNvPr id="0" name=""/>
        <dsp:cNvSpPr/>
      </dsp:nvSpPr>
      <dsp:spPr>
        <a:xfrm>
          <a:off x="4012937" y="693449"/>
          <a:ext cx="528112" cy="5281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050EE84-F348-46E1-BF35-99BDB2037E7E}">
      <dsp:nvSpPr>
        <dsp:cNvPr id="0" name=""/>
        <dsp:cNvSpPr/>
      </dsp:nvSpPr>
      <dsp:spPr>
        <a:xfrm>
          <a:off x="4927377" y="502237"/>
          <a:ext cx="2146268" cy="910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a:latin typeface="Corbel" panose="020B0503020204020204"/>
              <a:ea typeface="+mn-ea"/>
              <a:cs typeface="+mn-cs"/>
            </a:rPr>
            <a:t>UNDERSTANDING DATA AND BUSINESS PROBLEM</a:t>
          </a:r>
          <a:endParaRPr lang="en-IN" sz="1800" kern="1200">
            <a:latin typeface="Corbel" panose="020B0503020204020204"/>
            <a:ea typeface="+mn-ea"/>
            <a:cs typeface="+mn-cs"/>
          </a:endParaRPr>
        </a:p>
      </dsp:txBody>
      <dsp:txXfrm>
        <a:off x="4927377" y="502237"/>
        <a:ext cx="2146268" cy="910537"/>
      </dsp:txXfrm>
    </dsp:sp>
    <dsp:sp modelId="{EBC10CC6-E9DF-4A26-BB09-0C8AC25BFB95}">
      <dsp:nvSpPr>
        <dsp:cNvPr id="0" name=""/>
        <dsp:cNvSpPr/>
      </dsp:nvSpPr>
      <dsp:spPr>
        <a:xfrm>
          <a:off x="7447616" y="502237"/>
          <a:ext cx="910537" cy="910537"/>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2BE87A-EEEB-4BCF-9F0A-2E051176751B}">
      <dsp:nvSpPr>
        <dsp:cNvPr id="0" name=""/>
        <dsp:cNvSpPr/>
      </dsp:nvSpPr>
      <dsp:spPr>
        <a:xfrm>
          <a:off x="7638829" y="693449"/>
          <a:ext cx="528112" cy="5281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192D73B-945C-451A-9387-7D822BA1F78A}">
      <dsp:nvSpPr>
        <dsp:cNvPr id="0" name=""/>
        <dsp:cNvSpPr/>
      </dsp:nvSpPr>
      <dsp:spPr>
        <a:xfrm>
          <a:off x="8553269" y="502237"/>
          <a:ext cx="2146268" cy="910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a:latin typeface="Corbel" panose="020B0503020204020204"/>
              <a:ea typeface="+mn-ea"/>
              <a:cs typeface="+mn-cs"/>
            </a:rPr>
            <a:t> NEWLY ADDED COLUMNS</a:t>
          </a:r>
          <a:endParaRPr lang="en-IN" sz="1800" kern="1200">
            <a:latin typeface="Corbel" panose="020B0503020204020204"/>
            <a:ea typeface="+mn-ea"/>
            <a:cs typeface="+mn-cs"/>
          </a:endParaRPr>
        </a:p>
      </dsp:txBody>
      <dsp:txXfrm>
        <a:off x="8553269" y="502237"/>
        <a:ext cx="2146268" cy="910537"/>
      </dsp:txXfrm>
    </dsp:sp>
    <dsp:sp modelId="{EDBD89CE-7B4C-476F-B5CC-F7611B722617}">
      <dsp:nvSpPr>
        <dsp:cNvPr id="0" name=""/>
        <dsp:cNvSpPr/>
      </dsp:nvSpPr>
      <dsp:spPr>
        <a:xfrm>
          <a:off x="195832" y="1991502"/>
          <a:ext cx="910537" cy="910537"/>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198E50-7DF2-4B45-BD4D-A00A3CF77E3A}">
      <dsp:nvSpPr>
        <dsp:cNvPr id="0" name=""/>
        <dsp:cNvSpPr/>
      </dsp:nvSpPr>
      <dsp:spPr>
        <a:xfrm>
          <a:off x="387045" y="2182715"/>
          <a:ext cx="528112" cy="5281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43305C0-D597-4501-8B89-DE2632348C9B}">
      <dsp:nvSpPr>
        <dsp:cNvPr id="0" name=""/>
        <dsp:cNvSpPr/>
      </dsp:nvSpPr>
      <dsp:spPr>
        <a:xfrm>
          <a:off x="1301485" y="1991502"/>
          <a:ext cx="2146268" cy="910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a:latin typeface="Corbel" panose="020B0503020204020204"/>
              <a:ea typeface="+mn-ea"/>
              <a:cs typeface="+mn-cs"/>
            </a:rPr>
            <a:t> PIVOT TABLE</a:t>
          </a:r>
          <a:endParaRPr lang="en-IN" sz="1800" kern="1200">
            <a:latin typeface="Corbel" panose="020B0503020204020204"/>
            <a:ea typeface="+mn-ea"/>
            <a:cs typeface="+mn-cs"/>
          </a:endParaRPr>
        </a:p>
      </dsp:txBody>
      <dsp:txXfrm>
        <a:off x="1301485" y="1991502"/>
        <a:ext cx="2146268" cy="910537"/>
      </dsp:txXfrm>
    </dsp:sp>
    <dsp:sp modelId="{43D56A47-81FE-4074-B771-C2C1994A9600}">
      <dsp:nvSpPr>
        <dsp:cNvPr id="0" name=""/>
        <dsp:cNvSpPr/>
      </dsp:nvSpPr>
      <dsp:spPr>
        <a:xfrm>
          <a:off x="3821724" y="1991502"/>
          <a:ext cx="910537" cy="910537"/>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385448-BBE3-407E-A699-536E309845F8}">
      <dsp:nvSpPr>
        <dsp:cNvPr id="0" name=""/>
        <dsp:cNvSpPr/>
      </dsp:nvSpPr>
      <dsp:spPr>
        <a:xfrm>
          <a:off x="4012937" y="2182715"/>
          <a:ext cx="528112" cy="5281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9000062-76A3-4C84-8CC8-492B50F8C236}">
      <dsp:nvSpPr>
        <dsp:cNvPr id="0" name=""/>
        <dsp:cNvSpPr/>
      </dsp:nvSpPr>
      <dsp:spPr>
        <a:xfrm>
          <a:off x="4927377" y="1991502"/>
          <a:ext cx="2146268" cy="910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a:latin typeface="Corbel" panose="020B0503020204020204"/>
              <a:ea typeface="+mn-ea"/>
              <a:cs typeface="+mn-cs"/>
            </a:rPr>
            <a:t> PIVOT CHART ANALYSIS</a:t>
          </a:r>
          <a:endParaRPr lang="en-IN" sz="1800" kern="1200">
            <a:latin typeface="Corbel" panose="020B0503020204020204"/>
            <a:ea typeface="+mn-ea"/>
            <a:cs typeface="+mn-cs"/>
          </a:endParaRPr>
        </a:p>
      </dsp:txBody>
      <dsp:txXfrm>
        <a:off x="4927377" y="1991502"/>
        <a:ext cx="2146268" cy="910537"/>
      </dsp:txXfrm>
    </dsp:sp>
    <dsp:sp modelId="{817A300B-DF1A-4DDE-9C9E-EA11233F9E34}">
      <dsp:nvSpPr>
        <dsp:cNvPr id="0" name=""/>
        <dsp:cNvSpPr/>
      </dsp:nvSpPr>
      <dsp:spPr>
        <a:xfrm>
          <a:off x="7447616" y="1991502"/>
          <a:ext cx="910537" cy="91053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E4C1E0-3F7A-4D6D-9D28-3027D97BC957}">
      <dsp:nvSpPr>
        <dsp:cNvPr id="0" name=""/>
        <dsp:cNvSpPr/>
      </dsp:nvSpPr>
      <dsp:spPr>
        <a:xfrm>
          <a:off x="7638829" y="2182715"/>
          <a:ext cx="528112" cy="5281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B916A1E-3C48-4A18-B2F5-1B1E31A3549B}">
      <dsp:nvSpPr>
        <dsp:cNvPr id="0" name=""/>
        <dsp:cNvSpPr/>
      </dsp:nvSpPr>
      <dsp:spPr>
        <a:xfrm>
          <a:off x="8553269" y="1991502"/>
          <a:ext cx="2146268" cy="910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a:latin typeface="Corbel" panose="020B0503020204020204"/>
              <a:ea typeface="+mn-ea"/>
              <a:cs typeface="+mn-cs"/>
            </a:rPr>
            <a:t> PRESENT FINAL INSIGHTS</a:t>
          </a:r>
          <a:endParaRPr lang="en-IN" sz="1800" kern="1200">
            <a:latin typeface="Corbel" panose="020B0503020204020204"/>
            <a:ea typeface="+mn-ea"/>
            <a:cs typeface="+mn-cs"/>
          </a:endParaRPr>
        </a:p>
      </dsp:txBody>
      <dsp:txXfrm>
        <a:off x="8553269" y="1991502"/>
        <a:ext cx="2146268" cy="910537"/>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1E09D9-F639-4C30-A0ED-0DCCBE3467D3}" type="datetimeFigureOut">
              <a:rPr lang="en-IN" smtClean="0"/>
              <a:t>15-04-2026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FBB5B3-F643-4E22-B1C5-38A4B3155CA0}" type="slidenum">
              <a:rPr lang="en-IN" smtClean="0"/>
              <a:t>‹#›</a:t>
            </a:fld>
            <a:endParaRPr lang="en-IN"/>
          </a:p>
        </p:txBody>
      </p:sp>
    </p:spTree>
    <p:extLst>
      <p:ext uri="{BB962C8B-B14F-4D97-AF65-F5344CB8AC3E}">
        <p14:creationId xmlns:p14="http://schemas.microsoft.com/office/powerpoint/2010/main" val="2860339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AFBB5B3-F643-4E22-B1C5-38A4B3155CA0}" type="slidenum">
              <a:rPr lang="en-IN" smtClean="0"/>
              <a:t>2</a:t>
            </a:fld>
            <a:endParaRPr lang="en-IN"/>
          </a:p>
        </p:txBody>
      </p:sp>
    </p:spTree>
    <p:extLst>
      <p:ext uri="{BB962C8B-B14F-4D97-AF65-F5344CB8AC3E}">
        <p14:creationId xmlns:p14="http://schemas.microsoft.com/office/powerpoint/2010/main" val="3347819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AFBB5B3-F643-4E22-B1C5-38A4B3155CA0}" type="slidenum">
              <a:rPr lang="en-IN" smtClean="0"/>
              <a:t>6</a:t>
            </a:fld>
            <a:endParaRPr lang="en-IN"/>
          </a:p>
        </p:txBody>
      </p:sp>
    </p:spTree>
    <p:extLst>
      <p:ext uri="{BB962C8B-B14F-4D97-AF65-F5344CB8AC3E}">
        <p14:creationId xmlns:p14="http://schemas.microsoft.com/office/powerpoint/2010/main" val="26157424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9B5677E-8D36-4324-8545-DEC9FBA828E8}" type="datetimeFigureOut">
              <a:rPr lang="en-IN" smtClean="0"/>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E6CDB7-4752-4B17-A218-6F98CFDFC0E2}" type="slidenum">
              <a:rPr lang="en-IN" smtClean="0"/>
              <a:t>‹#›</a:t>
            </a:fld>
            <a:endParaRPr lang="en-IN"/>
          </a:p>
        </p:txBody>
      </p:sp>
    </p:spTree>
    <p:extLst>
      <p:ext uri="{BB962C8B-B14F-4D97-AF65-F5344CB8AC3E}">
        <p14:creationId xmlns:p14="http://schemas.microsoft.com/office/powerpoint/2010/main" val="1385075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C9B5677E-8D36-4324-8545-DEC9FBA828E8}" type="datetimeFigureOut">
              <a:rPr lang="en-IN" smtClean="0"/>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E6CDB7-4752-4B17-A218-6F98CFDFC0E2}" type="slidenum">
              <a:rPr lang="en-IN" smtClean="0"/>
              <a:t>‹#›</a:t>
            </a:fld>
            <a:endParaRPr lang="en-IN"/>
          </a:p>
        </p:txBody>
      </p:sp>
    </p:spTree>
    <p:extLst>
      <p:ext uri="{BB962C8B-B14F-4D97-AF65-F5344CB8AC3E}">
        <p14:creationId xmlns:p14="http://schemas.microsoft.com/office/powerpoint/2010/main" val="2460319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B5677E-8D36-4324-8545-DEC9FBA828E8}" type="datetimeFigureOut">
              <a:rPr lang="en-IN" smtClean="0"/>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E6CDB7-4752-4B17-A218-6F98CFDFC0E2}" type="slidenum">
              <a:rPr lang="en-IN" smtClean="0"/>
              <a:t>‹#›</a:t>
            </a:fld>
            <a:endParaRPr lang="en-IN"/>
          </a:p>
        </p:txBody>
      </p:sp>
    </p:spTree>
    <p:extLst>
      <p:ext uri="{BB962C8B-B14F-4D97-AF65-F5344CB8AC3E}">
        <p14:creationId xmlns:p14="http://schemas.microsoft.com/office/powerpoint/2010/main" val="3118783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B5677E-8D36-4324-8545-DEC9FBA828E8}" type="datetimeFigureOut">
              <a:rPr lang="en-IN" smtClean="0"/>
              <a:t>15-04-2026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E6CDB7-4752-4B17-A218-6F98CFDFC0E2}" type="slidenum">
              <a:rPr lang="en-IN" smtClean="0"/>
              <a:t>‹#›</a:t>
            </a:fld>
            <a:endParaRPr lang="en-IN"/>
          </a:p>
        </p:txBody>
      </p:sp>
    </p:spTree>
    <p:extLst>
      <p:ext uri="{BB962C8B-B14F-4D97-AF65-F5344CB8AC3E}">
        <p14:creationId xmlns:p14="http://schemas.microsoft.com/office/powerpoint/2010/main" val="1573239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9B5677E-8D36-4324-8545-DEC9FBA828E8}" type="datetimeFigureOut">
              <a:rPr lang="en-IN" smtClean="0"/>
              <a:t>15-04-2026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0E6CDB7-4752-4B17-A218-6F98CFDFC0E2}" type="slidenum">
              <a:rPr lang="en-IN" smtClean="0"/>
              <a:t>‹#›</a:t>
            </a:fld>
            <a:endParaRPr lang="en-IN"/>
          </a:p>
        </p:txBody>
      </p:sp>
    </p:spTree>
    <p:extLst>
      <p:ext uri="{BB962C8B-B14F-4D97-AF65-F5344CB8AC3E}">
        <p14:creationId xmlns:p14="http://schemas.microsoft.com/office/powerpoint/2010/main" val="21710108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C9B5677E-8D36-4324-8545-DEC9FBA828E8}" type="datetimeFigureOut">
              <a:rPr lang="en-IN" smtClean="0"/>
              <a:t>15-04-2026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C0E6CDB7-4752-4B17-A218-6F98CFDFC0E2}" type="slidenum">
              <a:rPr lang="en-IN" smtClean="0"/>
              <a:t>‹#›</a:t>
            </a:fld>
            <a:endParaRPr lang="en-IN"/>
          </a:p>
        </p:txBody>
      </p:sp>
    </p:spTree>
    <p:extLst>
      <p:ext uri="{BB962C8B-B14F-4D97-AF65-F5344CB8AC3E}">
        <p14:creationId xmlns:p14="http://schemas.microsoft.com/office/powerpoint/2010/main" val="655354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9B5677E-8D36-4324-8545-DEC9FBA828E8}" type="datetimeFigureOut">
              <a:rPr lang="en-IN" smtClean="0"/>
              <a:t>15-04-2026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C0E6CDB7-4752-4B17-A218-6F98CFDFC0E2}" type="slidenum">
              <a:rPr lang="en-IN" smtClean="0"/>
              <a:t>‹#›</a:t>
            </a:fld>
            <a:endParaRPr lang="en-IN"/>
          </a:p>
        </p:txBody>
      </p:sp>
    </p:spTree>
    <p:extLst>
      <p:ext uri="{BB962C8B-B14F-4D97-AF65-F5344CB8AC3E}">
        <p14:creationId xmlns:p14="http://schemas.microsoft.com/office/powerpoint/2010/main" val="157661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C9B5677E-8D36-4324-8545-DEC9FBA828E8}" type="datetimeFigureOut">
              <a:rPr lang="en-IN" smtClean="0"/>
              <a:t>15-04-2026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C0E6CDB7-4752-4B17-A218-6F98CFDFC0E2}" type="slidenum">
              <a:rPr lang="en-IN" smtClean="0"/>
              <a:t>‹#›</a:t>
            </a:fld>
            <a:endParaRPr lang="en-IN"/>
          </a:p>
        </p:txBody>
      </p:sp>
    </p:spTree>
    <p:extLst>
      <p:ext uri="{BB962C8B-B14F-4D97-AF65-F5344CB8AC3E}">
        <p14:creationId xmlns:p14="http://schemas.microsoft.com/office/powerpoint/2010/main" val="1303828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B5677E-8D36-4324-8545-DEC9FBA828E8}" type="datetimeFigureOut">
              <a:rPr lang="en-IN" smtClean="0"/>
              <a:t>15-04-2026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E6CDB7-4752-4B17-A218-6F98CFDFC0E2}" type="slidenum">
              <a:rPr lang="en-IN" smtClean="0"/>
              <a:t>‹#›</a:t>
            </a:fld>
            <a:endParaRPr lang="en-IN"/>
          </a:p>
        </p:txBody>
      </p:sp>
    </p:spTree>
    <p:extLst>
      <p:ext uri="{BB962C8B-B14F-4D97-AF65-F5344CB8AC3E}">
        <p14:creationId xmlns:p14="http://schemas.microsoft.com/office/powerpoint/2010/main" val="668079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B5677E-8D36-4324-8545-DEC9FBA828E8}" type="datetimeFigureOut">
              <a:rPr lang="en-IN" smtClean="0"/>
              <a:t>15-04-2026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E6CDB7-4752-4B17-A218-6F98CFDFC0E2}" type="slidenum">
              <a:rPr lang="en-IN" smtClean="0"/>
              <a:t>‹#›</a:t>
            </a:fld>
            <a:endParaRPr lang="en-IN"/>
          </a:p>
        </p:txBody>
      </p:sp>
    </p:spTree>
    <p:extLst>
      <p:ext uri="{BB962C8B-B14F-4D97-AF65-F5344CB8AC3E}">
        <p14:creationId xmlns:p14="http://schemas.microsoft.com/office/powerpoint/2010/main" val="43063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9B5677E-8D36-4324-8545-DEC9FBA828E8}" type="datetimeFigureOut">
              <a:rPr lang="en-IN" smtClean="0"/>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E6CDB7-4752-4B17-A218-6F98CFDFC0E2}" type="slidenum">
              <a:rPr lang="en-IN" smtClean="0"/>
              <a:t>‹#›</a:t>
            </a:fld>
            <a:endParaRPr lang="en-IN"/>
          </a:p>
        </p:txBody>
      </p:sp>
    </p:spTree>
    <p:extLst>
      <p:ext uri="{BB962C8B-B14F-4D97-AF65-F5344CB8AC3E}">
        <p14:creationId xmlns:p14="http://schemas.microsoft.com/office/powerpoint/2010/main" val="38699462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9B5677E-8D36-4324-8545-DEC9FBA828E8}" type="datetimeFigureOut">
              <a:rPr lang="en-IN" smtClean="0"/>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E6CDB7-4752-4B17-A218-6F98CFDFC0E2}"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2342846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B5677E-8D36-4324-8545-DEC9FBA828E8}" type="datetimeFigureOut">
              <a:rPr lang="en-IN" smtClean="0"/>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E6CDB7-4752-4B17-A218-6F98CFDFC0E2}" type="slidenum">
              <a:rPr lang="en-IN" smtClean="0"/>
              <a:t>‹#›</a:t>
            </a:fld>
            <a:endParaRPr lang="en-IN"/>
          </a:p>
        </p:txBody>
      </p:sp>
    </p:spTree>
    <p:extLst>
      <p:ext uri="{BB962C8B-B14F-4D97-AF65-F5344CB8AC3E}">
        <p14:creationId xmlns:p14="http://schemas.microsoft.com/office/powerpoint/2010/main" val="2915609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9B5677E-8D36-4324-8545-DEC9FBA828E8}" type="datetimeFigureOut">
              <a:rPr lang="en-IN" smtClean="0"/>
              <a:t>15-04-2026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E6CDB7-4752-4B17-A218-6F98CFDFC0E2}" type="slidenum">
              <a:rPr lang="en-IN" smtClean="0"/>
              <a:t>‹#›</a:t>
            </a:fld>
            <a:endParaRPr lang="en-IN"/>
          </a:p>
        </p:txBody>
      </p:sp>
    </p:spTree>
    <p:extLst>
      <p:ext uri="{BB962C8B-B14F-4D97-AF65-F5344CB8AC3E}">
        <p14:creationId xmlns:p14="http://schemas.microsoft.com/office/powerpoint/2010/main" val="18925797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9B5677E-8D36-4324-8545-DEC9FBA828E8}" type="datetimeFigureOut">
              <a:rPr lang="en-IN" smtClean="0"/>
              <a:t>15-04-2026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E6CDB7-4752-4B17-A218-6F98CFDFC0E2}" type="slidenum">
              <a:rPr lang="en-IN" smtClean="0"/>
              <a:t>‹#›</a:t>
            </a:fld>
            <a:endParaRPr lang="en-IN"/>
          </a:p>
        </p:txBody>
      </p:sp>
    </p:spTree>
    <p:extLst>
      <p:ext uri="{BB962C8B-B14F-4D97-AF65-F5344CB8AC3E}">
        <p14:creationId xmlns:p14="http://schemas.microsoft.com/office/powerpoint/2010/main" val="26096492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B5677E-8D36-4324-8545-DEC9FBA828E8}" type="datetimeFigureOut">
              <a:rPr lang="en-IN" smtClean="0"/>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E6CDB7-4752-4B17-A218-6F98CFDFC0E2}" type="slidenum">
              <a:rPr lang="en-IN" smtClean="0"/>
              <a:t>‹#›</a:t>
            </a:fld>
            <a:endParaRPr lang="en-IN"/>
          </a:p>
        </p:txBody>
      </p:sp>
    </p:spTree>
    <p:extLst>
      <p:ext uri="{BB962C8B-B14F-4D97-AF65-F5344CB8AC3E}">
        <p14:creationId xmlns:p14="http://schemas.microsoft.com/office/powerpoint/2010/main" val="34995130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B5677E-8D36-4324-8545-DEC9FBA828E8}" type="datetimeFigureOut">
              <a:rPr lang="en-IN" smtClean="0"/>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E6CDB7-4752-4B17-A218-6F98CFDFC0E2}" type="slidenum">
              <a:rPr lang="en-IN" smtClean="0"/>
              <a:t>‹#›</a:t>
            </a:fld>
            <a:endParaRPr lang="en-IN"/>
          </a:p>
        </p:txBody>
      </p:sp>
    </p:spTree>
    <p:extLst>
      <p:ext uri="{BB962C8B-B14F-4D97-AF65-F5344CB8AC3E}">
        <p14:creationId xmlns:p14="http://schemas.microsoft.com/office/powerpoint/2010/main" val="3237828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C9B5677E-8D36-4324-8545-DEC9FBA828E8}" type="datetimeFigureOut">
              <a:rPr lang="en-IN" smtClean="0"/>
              <a:t>15-04-2026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0E6CDB7-4752-4B17-A218-6F98CFDFC0E2}" type="slidenum">
              <a:rPr lang="en-IN" smtClean="0"/>
              <a:t>‹#›</a:t>
            </a:fld>
            <a:endParaRPr lang="en-IN"/>
          </a:p>
        </p:txBody>
      </p:sp>
    </p:spTree>
    <p:extLst>
      <p:ext uri="{BB962C8B-B14F-4D97-AF65-F5344CB8AC3E}">
        <p14:creationId xmlns:p14="http://schemas.microsoft.com/office/powerpoint/2010/main" val="3381842818"/>
      </p:ext>
    </p:extLst>
  </p:cSld>
  <p:clrMap bg1="dk1" tx1="lt1" bg2="dk2" tx2="lt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3.png"/><Relationship Id="rId7" Type="http://schemas.openxmlformats.org/officeDocument/2006/relationships/diagramLayout" Target="../diagrams/layout1.xml"/><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diagramData" Target="../diagrams/data1.xml"/><Relationship Id="rId5" Type="http://schemas.openxmlformats.org/officeDocument/2006/relationships/image" Target="../media/image5.png"/><Relationship Id="rId10" Type="http://schemas.microsoft.com/office/2007/relationships/diagramDrawing" Target="../diagrams/drawing1.xml"/><Relationship Id="rId4" Type="http://schemas.openxmlformats.org/officeDocument/2006/relationships/image" Target="../media/image4.png"/><Relationship Id="rId9" Type="http://schemas.openxmlformats.org/officeDocument/2006/relationships/diagramColors" Target="../diagrams/colors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0" name="Picture 9">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2" name="Oval 11">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4" name="Picture 13">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6" name="Picture 15">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8" name="Rectangle 17">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4" name="Picture 3" descr="Financial graphs on a dark display">
            <a:extLst>
              <a:ext uri="{FF2B5EF4-FFF2-40B4-BE49-F238E27FC236}">
                <a16:creationId xmlns:a16="http://schemas.microsoft.com/office/drawing/2014/main" id="{BE57E50C-FD63-EE0F-4BEA-CE9764721278}"/>
              </a:ext>
            </a:extLst>
          </p:cNvPr>
          <p:cNvPicPr>
            <a:picLocks noChangeAspect="1"/>
          </p:cNvPicPr>
          <p:nvPr/>
        </p:nvPicPr>
        <p:blipFill>
          <a:blip r:embed="rId7">
            <a:duotone>
              <a:prstClr val="black"/>
              <a:schemeClr val="accent5">
                <a:tint val="45000"/>
                <a:satMod val="400000"/>
              </a:schemeClr>
            </a:duotone>
            <a:alphaModFix amt="25000"/>
          </a:blip>
          <a:srcRect t="10000"/>
          <a:stretch>
            <a:fillRect/>
          </a:stretch>
        </p:blipFill>
        <p:spPr>
          <a:xfrm>
            <a:off x="20" y="10"/>
            <a:ext cx="12191980" cy="6857990"/>
          </a:xfrm>
          <a:prstGeom prst="rect">
            <a:avLst/>
          </a:prstGeom>
        </p:spPr>
      </p:pic>
      <p:sp>
        <p:nvSpPr>
          <p:cNvPr id="2" name="TextBox 1">
            <a:extLst>
              <a:ext uri="{FF2B5EF4-FFF2-40B4-BE49-F238E27FC236}">
                <a16:creationId xmlns:a16="http://schemas.microsoft.com/office/drawing/2014/main" id="{2089468D-0C20-9711-2874-3217AAC23BEE}"/>
              </a:ext>
            </a:extLst>
          </p:cNvPr>
          <p:cNvSpPr txBox="1"/>
          <p:nvPr/>
        </p:nvSpPr>
        <p:spPr>
          <a:xfrm>
            <a:off x="1154955" y="1447800"/>
            <a:ext cx="8825658" cy="3329581"/>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6600" dirty="0">
                <a:solidFill>
                  <a:schemeClr val="tx2"/>
                </a:solidFill>
                <a:latin typeface="Aharoni" panose="02010803020104030203" pitchFamily="2" charset="-79"/>
                <a:ea typeface="+mj-ea"/>
                <a:cs typeface="Aharoni" panose="02010803020104030203" pitchFamily="2" charset="-79"/>
              </a:rPr>
              <a:t>SALES DATA ANALYSIS PRESENTATION</a:t>
            </a:r>
          </a:p>
        </p:txBody>
      </p:sp>
      <p:sp>
        <p:nvSpPr>
          <p:cNvPr id="20" name="Rectangle 19">
            <a:extLst>
              <a:ext uri="{FF2B5EF4-FFF2-40B4-BE49-F238E27FC236}">
                <a16:creationId xmlns:a16="http://schemas.microsoft.com/office/drawing/2014/main" id="{C885E190-58DD-42DD-A4A8-401E15C92A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15252948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0" name="Picture 9">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2" name="Oval 11">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4" name="Picture 13">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6" name="Picture 15">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8" name="Rectangle 17">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Rectangle 19">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2" name="Rectangle 21">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26" name="Freeform: Shape 25">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IN"/>
          </a:p>
        </p:txBody>
      </p:sp>
      <p:sp>
        <p:nvSpPr>
          <p:cNvPr id="2" name="Title 1">
            <a:extLst>
              <a:ext uri="{FF2B5EF4-FFF2-40B4-BE49-F238E27FC236}">
                <a16:creationId xmlns:a16="http://schemas.microsoft.com/office/drawing/2014/main" id="{03919121-DD8F-8AE0-750C-BC76EDCDDD64}"/>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US" sz="4200" b="0" i="0" kern="1200">
                <a:solidFill>
                  <a:srgbClr val="FFFFFF"/>
                </a:solidFill>
                <a:latin typeface="+mj-lt"/>
                <a:ea typeface="+mj-ea"/>
                <a:cs typeface="+mj-cs"/>
              </a:rPr>
              <a:t>DISCRIPTION ABOUT THE DATA</a:t>
            </a:r>
          </a:p>
        </p:txBody>
      </p:sp>
      <p:sp>
        <p:nvSpPr>
          <p:cNvPr id="3" name="Text Placeholder 2">
            <a:extLst>
              <a:ext uri="{FF2B5EF4-FFF2-40B4-BE49-F238E27FC236}">
                <a16:creationId xmlns:a16="http://schemas.microsoft.com/office/drawing/2014/main" id="{7B494905-DC4E-9352-A795-7FD8C25FB0DF}"/>
              </a:ext>
            </a:extLst>
          </p:cNvPr>
          <p:cNvSpPr>
            <a:spLocks noGrp="1"/>
          </p:cNvSpPr>
          <p:nvPr>
            <p:ph type="body" sz="half" idx="2"/>
          </p:nvPr>
        </p:nvSpPr>
        <p:spPr>
          <a:xfrm>
            <a:off x="1103312" y="2763520"/>
            <a:ext cx="8946541" cy="3484879"/>
          </a:xfrm>
        </p:spPr>
        <p:txBody>
          <a:bodyPr vert="horz" lIns="91440" tIns="45720" rIns="91440" bIns="45720" rtlCol="0">
            <a:normAutofit/>
          </a:bodyPr>
          <a:lstStyle/>
          <a:p>
            <a:pPr>
              <a:buFont typeface="Wingdings 3" charset="2"/>
              <a:buChar char=""/>
            </a:pPr>
            <a:r>
              <a:rPr lang="en-US"/>
              <a:t>        This project analyzes sales data to understand revenue, product performance, and customer behavior. The dataset includes details like products, prices, and payment methods, helping to gain insights for better business decisions.</a:t>
            </a:r>
          </a:p>
          <a:p>
            <a:pPr>
              <a:buFont typeface="Wingdings 3" charset="2"/>
              <a:buChar char=""/>
            </a:pPr>
            <a:endParaRPr lang="en-US"/>
          </a:p>
        </p:txBody>
      </p:sp>
    </p:spTree>
    <p:extLst>
      <p:ext uri="{BB962C8B-B14F-4D97-AF65-F5344CB8AC3E}">
        <p14:creationId xmlns:p14="http://schemas.microsoft.com/office/powerpoint/2010/main" val="1580567169"/>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0" name="Picture 9">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2" name="Oval 11">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4" name="Picture 13">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6" name="Picture 15">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8" name="Rectangle 17">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Rectangle 19">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2" name="Rectangle 21">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26" name="Freeform: Shape 25">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IN"/>
          </a:p>
        </p:txBody>
      </p:sp>
      <p:sp>
        <p:nvSpPr>
          <p:cNvPr id="2" name="Title 1">
            <a:extLst>
              <a:ext uri="{FF2B5EF4-FFF2-40B4-BE49-F238E27FC236}">
                <a16:creationId xmlns:a16="http://schemas.microsoft.com/office/drawing/2014/main" id="{D14BC23D-4489-F55F-C5F7-21B4645D6EA9}"/>
              </a:ext>
            </a:extLst>
          </p:cNvPr>
          <p:cNvSpPr>
            <a:spLocks noGrp="1"/>
          </p:cNvSpPr>
          <p:nvPr>
            <p:ph type="ctrTitle"/>
          </p:nvPr>
        </p:nvSpPr>
        <p:spPr>
          <a:xfrm>
            <a:off x="1103312" y="452718"/>
            <a:ext cx="8947522" cy="1400530"/>
          </a:xfrm>
        </p:spPr>
        <p:txBody>
          <a:bodyPr vert="horz" lIns="91440" tIns="45720" rIns="91440" bIns="45720" rtlCol="0" anchor="ctr">
            <a:normAutofit/>
          </a:bodyPr>
          <a:lstStyle/>
          <a:p>
            <a:r>
              <a:rPr lang="en-US" sz="4200" b="0" i="0" kern="1200">
                <a:solidFill>
                  <a:srgbClr val="FFFFFF"/>
                </a:solidFill>
                <a:latin typeface="+mj-lt"/>
                <a:ea typeface="+mj-ea"/>
                <a:cs typeface="+mj-cs"/>
              </a:rPr>
              <a:t>PROCESS</a:t>
            </a:r>
          </a:p>
        </p:txBody>
      </p:sp>
      <p:sp>
        <p:nvSpPr>
          <p:cNvPr id="3" name="Subtitle 2">
            <a:extLst>
              <a:ext uri="{FF2B5EF4-FFF2-40B4-BE49-F238E27FC236}">
                <a16:creationId xmlns:a16="http://schemas.microsoft.com/office/drawing/2014/main" id="{5BBDD6EF-C291-803A-D30D-C730FFF31FBD}"/>
              </a:ext>
            </a:extLst>
          </p:cNvPr>
          <p:cNvSpPr>
            <a:spLocks noGrp="1"/>
          </p:cNvSpPr>
          <p:nvPr>
            <p:ph type="subTitle" idx="1"/>
          </p:nvPr>
        </p:nvSpPr>
        <p:spPr>
          <a:xfrm>
            <a:off x="1103312" y="2763520"/>
            <a:ext cx="8946541" cy="3484879"/>
          </a:xfrm>
        </p:spPr>
        <p:txBody>
          <a:bodyPr vert="horz" lIns="91440" tIns="45720" rIns="91440" bIns="45720" rtlCol="0">
            <a:normAutofit/>
          </a:bodyPr>
          <a:lstStyle/>
          <a:p>
            <a:pPr marL="342900" indent="-342900">
              <a:lnSpc>
                <a:spcPct val="90000"/>
              </a:lnSpc>
              <a:buFont typeface="Wingdings 3" charset="2"/>
              <a:buChar char=""/>
            </a:pPr>
            <a:r>
              <a:rPr lang="en-US" sz="1700" cap="none">
                <a:solidFill>
                  <a:schemeClr val="tx1"/>
                </a:solidFill>
              </a:rPr>
              <a:t>These dataset downloaded from the website of Kaggle and imported as a CSV file.in the dataset have 500 rows and 20 columns.</a:t>
            </a:r>
          </a:p>
          <a:p>
            <a:pPr marL="342900" indent="-342900">
              <a:lnSpc>
                <a:spcPct val="90000"/>
              </a:lnSpc>
              <a:buFont typeface="Wingdings 3" charset="2"/>
              <a:buChar char=""/>
            </a:pPr>
            <a:r>
              <a:rPr lang="en-US" sz="1700" cap="none">
                <a:solidFill>
                  <a:schemeClr val="tx1"/>
                </a:solidFill>
              </a:rPr>
              <a:t>First we check the information about the dataset , regarding their features, datatype and null values.</a:t>
            </a:r>
          </a:p>
          <a:p>
            <a:pPr marL="342900" indent="-342900">
              <a:lnSpc>
                <a:spcPct val="90000"/>
              </a:lnSpc>
              <a:buFont typeface="Wingdings 3" charset="2"/>
              <a:buChar char=""/>
            </a:pPr>
            <a:r>
              <a:rPr lang="en-US" sz="1700" cap="none">
                <a:solidFill>
                  <a:schemeClr val="tx1"/>
                </a:solidFill>
              </a:rPr>
              <a:t>We check the data cleaning process of checking  blank values ,  duplicates values, and  we adding new columns named sales performance and ordered month.</a:t>
            </a:r>
          </a:p>
          <a:p>
            <a:pPr marL="342900" indent="-342900">
              <a:lnSpc>
                <a:spcPct val="90000"/>
              </a:lnSpc>
              <a:buFont typeface="Wingdings 3" charset="2"/>
              <a:buChar char=""/>
            </a:pPr>
            <a:r>
              <a:rPr lang="en-US" sz="1700" cap="none">
                <a:solidFill>
                  <a:schemeClr val="tx1"/>
                </a:solidFill>
              </a:rPr>
              <a:t>Covert the data into the pivot table format, and Groupby the questions in the pivot table.</a:t>
            </a:r>
          </a:p>
          <a:p>
            <a:pPr marL="342900" indent="-342900">
              <a:lnSpc>
                <a:spcPct val="90000"/>
              </a:lnSpc>
              <a:buFont typeface="Wingdings 3" charset="2"/>
              <a:buChar char=""/>
            </a:pPr>
            <a:r>
              <a:rPr lang="en-US" sz="1700" cap="none">
                <a:solidFill>
                  <a:schemeClr val="tx1"/>
                </a:solidFill>
              </a:rPr>
              <a:t> analyse the pivot table then create pivot charts and dashboards.</a:t>
            </a:r>
          </a:p>
          <a:p>
            <a:pPr>
              <a:lnSpc>
                <a:spcPct val="90000"/>
              </a:lnSpc>
              <a:buFont typeface="Wingdings 3" charset="2"/>
              <a:buChar char=""/>
            </a:pPr>
            <a:r>
              <a:rPr lang="en-US" sz="1700" cap="none">
                <a:solidFill>
                  <a:schemeClr val="tx1"/>
                </a:solidFill>
              </a:rPr>
              <a:t> </a:t>
            </a:r>
          </a:p>
        </p:txBody>
      </p:sp>
    </p:spTree>
    <p:extLst>
      <p:ext uri="{BB962C8B-B14F-4D97-AF65-F5344CB8AC3E}">
        <p14:creationId xmlns:p14="http://schemas.microsoft.com/office/powerpoint/2010/main" val="2624929576"/>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B8F9CB-890B-4CB8-B503-188A763E2F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0" name="Picture 9">
            <a:extLst>
              <a:ext uri="{FF2B5EF4-FFF2-40B4-BE49-F238E27FC236}">
                <a16:creationId xmlns:a16="http://schemas.microsoft.com/office/drawing/2014/main" id="{AA632AB4-3837-4FD0-8B62-0A18B573F4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2" name="Oval 11">
            <a:extLst>
              <a:ext uri="{FF2B5EF4-FFF2-40B4-BE49-F238E27FC236}">
                <a16:creationId xmlns:a16="http://schemas.microsoft.com/office/drawing/2014/main" id="{C393B4A7-6ABF-423D-A762-3CDB4897A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4" name="Picture 13">
            <a:extLst>
              <a:ext uri="{FF2B5EF4-FFF2-40B4-BE49-F238E27FC236}">
                <a16:creationId xmlns:a16="http://schemas.microsoft.com/office/drawing/2014/main" id="{9CD2319A-6FA9-4EFB-9EDF-7304467425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6" name="Picture 15">
            <a:extLst>
              <a:ext uri="{FF2B5EF4-FFF2-40B4-BE49-F238E27FC236}">
                <a16:creationId xmlns:a16="http://schemas.microsoft.com/office/drawing/2014/main" id="{D1692A93-3514-4486-8B67-CCA4E0259BC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8" name="Rectangle 17">
            <a:extLst>
              <a:ext uri="{FF2B5EF4-FFF2-40B4-BE49-F238E27FC236}">
                <a16:creationId xmlns:a16="http://schemas.microsoft.com/office/drawing/2014/main" id="{01AD250C-F2EA-449F-9B14-DF5BB674C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Rectangle 19">
            <a:extLst>
              <a:ext uri="{FF2B5EF4-FFF2-40B4-BE49-F238E27FC236}">
                <a16:creationId xmlns:a16="http://schemas.microsoft.com/office/drawing/2014/main" id="{F747F1B4-B831-4277-8AB0-32767F7EB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2" name="Freeform 7">
            <a:extLst>
              <a:ext uri="{FF2B5EF4-FFF2-40B4-BE49-F238E27FC236}">
                <a16:creationId xmlns:a16="http://schemas.microsoft.com/office/drawing/2014/main" id="{D80CFA21-AB7C-4BEB-9BFF-05764FBBF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DB36A9F5-E868-7FDC-D55D-6C8B790987AA}"/>
              </a:ext>
            </a:extLst>
          </p:cNvPr>
          <p:cNvSpPr>
            <a:spLocks noGrp="1"/>
          </p:cNvSpPr>
          <p:nvPr>
            <p:ph type="title"/>
          </p:nvPr>
        </p:nvSpPr>
        <p:spPr>
          <a:xfrm>
            <a:off x="648930" y="629267"/>
            <a:ext cx="9252154" cy="1016654"/>
          </a:xfrm>
        </p:spPr>
        <p:txBody>
          <a:bodyPr vert="horz" lIns="91440" tIns="45720" rIns="91440" bIns="45720" rtlCol="0" anchor="t">
            <a:normAutofit/>
          </a:bodyPr>
          <a:lstStyle/>
          <a:p>
            <a:r>
              <a:rPr lang="en-US">
                <a:solidFill>
                  <a:srgbClr val="EBEBEB"/>
                </a:solidFill>
              </a:rPr>
              <a:t>WORKFLOW OF DATA ANALYSIS</a:t>
            </a:r>
          </a:p>
        </p:txBody>
      </p:sp>
      <p:sp>
        <p:nvSpPr>
          <p:cNvPr id="24" name="Rectangle 23">
            <a:extLst>
              <a:ext uri="{FF2B5EF4-FFF2-40B4-BE49-F238E27FC236}">
                <a16:creationId xmlns:a16="http://schemas.microsoft.com/office/drawing/2014/main" id="{12F7E335-851A-4CAE-B09F-E657819D4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Freeform: Shape 25">
            <a:extLst>
              <a:ext uri="{FF2B5EF4-FFF2-40B4-BE49-F238E27FC236}">
                <a16:creationId xmlns:a16="http://schemas.microsoft.com/office/drawing/2014/main" id="{10B541F0-7F6E-402E-84D8-CF96EACA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IN"/>
          </a:p>
        </p:txBody>
      </p:sp>
      <p:graphicFrame>
        <p:nvGraphicFramePr>
          <p:cNvPr id="3" name="Diagram 2">
            <a:extLst>
              <a:ext uri="{FF2B5EF4-FFF2-40B4-BE49-F238E27FC236}">
                <a16:creationId xmlns:a16="http://schemas.microsoft.com/office/drawing/2014/main" id="{95D1CCAA-36D8-450E-C3B8-534643B60190}"/>
              </a:ext>
            </a:extLst>
          </p:cNvPr>
          <p:cNvGraphicFramePr/>
          <p:nvPr>
            <p:extLst>
              <p:ext uri="{D42A27DB-BD31-4B8C-83A1-F6EECF244321}">
                <p14:modId xmlns:p14="http://schemas.microsoft.com/office/powerpoint/2010/main" val="3359394807"/>
              </p:ext>
            </p:extLst>
          </p:nvPr>
        </p:nvGraphicFramePr>
        <p:xfrm>
          <a:off x="648930" y="2810256"/>
          <a:ext cx="10895370" cy="340427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040576063"/>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6" name="Picture 15">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1">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4" name="Rectangle 23">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28" name="Freeform: Shape 27">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IN"/>
          </a:p>
        </p:txBody>
      </p:sp>
      <p:sp>
        <p:nvSpPr>
          <p:cNvPr id="4" name="TextBox 3">
            <a:extLst>
              <a:ext uri="{FF2B5EF4-FFF2-40B4-BE49-F238E27FC236}">
                <a16:creationId xmlns:a16="http://schemas.microsoft.com/office/drawing/2014/main" id="{5D42FC79-F555-0E49-4A30-A5DD95A3E7E9}"/>
              </a:ext>
            </a:extLst>
          </p:cNvPr>
          <p:cNvSpPr txBox="1"/>
          <p:nvPr/>
        </p:nvSpPr>
        <p:spPr>
          <a:xfrm>
            <a:off x="1103312" y="452718"/>
            <a:ext cx="8947522" cy="1400530"/>
          </a:xfrm>
          <a:prstGeom prst="rect">
            <a:avLst/>
          </a:prstGeom>
        </p:spPr>
        <p:txBody>
          <a:bodyPr vert="horz" lIns="91440" tIns="45720" rIns="91440" bIns="45720" rtlCol="0" anchor="ctr">
            <a:normAutofit/>
          </a:bodyPr>
          <a:lstStyle/>
          <a:p>
            <a:pPr>
              <a:spcBef>
                <a:spcPct val="0"/>
              </a:spcBef>
              <a:spcAft>
                <a:spcPts val="600"/>
              </a:spcAft>
            </a:pPr>
            <a:r>
              <a:rPr lang="en-US" sz="4200" b="0" i="0" kern="1200">
                <a:solidFill>
                  <a:srgbClr val="FFFFFF"/>
                </a:solidFill>
                <a:latin typeface="+mj-lt"/>
                <a:ea typeface="+mj-ea"/>
                <a:cs typeface="+mj-cs"/>
              </a:rPr>
              <a:t>1.DATA CLEANING PROCESS</a:t>
            </a:r>
          </a:p>
        </p:txBody>
      </p:sp>
      <p:sp>
        <p:nvSpPr>
          <p:cNvPr id="5" name="TextBox 4">
            <a:extLst>
              <a:ext uri="{FF2B5EF4-FFF2-40B4-BE49-F238E27FC236}">
                <a16:creationId xmlns:a16="http://schemas.microsoft.com/office/drawing/2014/main" id="{62E7BEB4-DE9E-AEB2-9725-75DAB9E569DF}"/>
              </a:ext>
            </a:extLst>
          </p:cNvPr>
          <p:cNvSpPr txBox="1"/>
          <p:nvPr/>
        </p:nvSpPr>
        <p:spPr>
          <a:xfrm>
            <a:off x="1103312" y="2763520"/>
            <a:ext cx="8946541" cy="3484879"/>
          </a:xfrm>
          <a:prstGeom prst="rect">
            <a:avLst/>
          </a:prstGeom>
        </p:spPr>
        <p:txBody>
          <a:bodyPr vert="horz" lIns="91440" tIns="45720" rIns="91440" bIns="45720" rtlCol="0">
            <a:normAutofit/>
          </a:bodyPr>
          <a:lstStyle/>
          <a:p>
            <a:pPr marL="285750" indent="-285750">
              <a:spcBef>
                <a:spcPts val="1000"/>
              </a:spcBef>
              <a:buClr>
                <a:schemeClr val="bg2">
                  <a:lumMod val="40000"/>
                  <a:lumOff val="60000"/>
                </a:schemeClr>
              </a:buClr>
              <a:buSzPct val="80000"/>
              <a:buFont typeface="Wingdings 3" charset="2"/>
              <a:buChar char=""/>
            </a:pPr>
            <a:r>
              <a:rPr lang="en-US" dirty="0">
                <a:latin typeface="+mj-lt"/>
                <a:ea typeface="+mj-ea"/>
                <a:cs typeface="+mj-cs"/>
              </a:rPr>
              <a:t> Before analysis, data was cleaned by:</a:t>
            </a:r>
          </a:p>
          <a:p>
            <a:pPr>
              <a:spcBef>
                <a:spcPts val="1000"/>
              </a:spcBef>
              <a:buClr>
                <a:schemeClr val="bg2">
                  <a:lumMod val="40000"/>
                  <a:lumOff val="60000"/>
                </a:schemeClr>
              </a:buClr>
              <a:buSzPct val="80000"/>
              <a:buFont typeface="Wingdings 3" charset="2"/>
              <a:buChar char=""/>
            </a:pPr>
            <a:endParaRPr lang="en-US"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dirty="0">
                <a:latin typeface="+mj-lt"/>
                <a:ea typeface="+mj-ea"/>
                <a:cs typeface="+mj-cs"/>
              </a:rPr>
              <a:t>         Removing missing values </a:t>
            </a:r>
          </a:p>
          <a:p>
            <a:pPr>
              <a:spcBef>
                <a:spcPts val="1000"/>
              </a:spcBef>
              <a:buClr>
                <a:schemeClr val="bg2">
                  <a:lumMod val="40000"/>
                  <a:lumOff val="60000"/>
                </a:schemeClr>
              </a:buClr>
              <a:buSzPct val="80000"/>
              <a:buFont typeface="Wingdings 3" charset="2"/>
              <a:buChar char=""/>
            </a:pPr>
            <a:r>
              <a:rPr lang="en-US" dirty="0">
                <a:latin typeface="+mj-lt"/>
                <a:ea typeface="+mj-ea"/>
                <a:cs typeface="+mj-cs"/>
              </a:rPr>
              <a:t>         Eliminating duplicate records </a:t>
            </a:r>
          </a:p>
          <a:p>
            <a:pPr>
              <a:spcBef>
                <a:spcPts val="1000"/>
              </a:spcBef>
              <a:buClr>
                <a:schemeClr val="bg2">
                  <a:lumMod val="40000"/>
                  <a:lumOff val="60000"/>
                </a:schemeClr>
              </a:buClr>
              <a:buSzPct val="80000"/>
              <a:buFont typeface="Wingdings 3" charset="2"/>
              <a:buChar char=""/>
            </a:pPr>
            <a:r>
              <a:rPr lang="en-US" dirty="0">
                <a:latin typeface="+mj-lt"/>
                <a:ea typeface="+mj-ea"/>
                <a:cs typeface="+mj-cs"/>
              </a:rPr>
              <a:t>         Correcting data types</a:t>
            </a:r>
          </a:p>
          <a:p>
            <a:pPr>
              <a:spcBef>
                <a:spcPts val="1000"/>
              </a:spcBef>
              <a:buClr>
                <a:schemeClr val="bg2">
                  <a:lumMod val="40000"/>
                  <a:lumOff val="60000"/>
                </a:schemeClr>
              </a:buClr>
              <a:buSzPct val="80000"/>
              <a:buFont typeface="Wingdings 3" charset="2"/>
              <a:buChar char=""/>
            </a:pPr>
            <a:endParaRPr lang="en-US"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dirty="0">
                <a:latin typeface="+mj-lt"/>
                <a:ea typeface="+mj-ea"/>
                <a:cs typeface="+mj-cs"/>
              </a:rPr>
              <a:t> This ensures accurate and reliable results. </a:t>
            </a:r>
          </a:p>
          <a:p>
            <a:pPr marL="285750" indent="-285750">
              <a:spcBef>
                <a:spcPts val="1000"/>
              </a:spcBef>
              <a:buClr>
                <a:schemeClr val="bg2">
                  <a:lumMod val="40000"/>
                  <a:lumOff val="60000"/>
                </a:schemeClr>
              </a:buClr>
              <a:buSzPct val="80000"/>
              <a:buFont typeface="Wingdings 3" charset="2"/>
              <a:buChar char=""/>
            </a:pPr>
            <a:endParaRPr lang="en-US" dirty="0">
              <a:latin typeface="+mj-lt"/>
              <a:ea typeface="+mj-ea"/>
              <a:cs typeface="+mj-cs"/>
            </a:endParaRPr>
          </a:p>
        </p:txBody>
      </p:sp>
    </p:spTree>
    <p:extLst>
      <p:ext uri="{BB962C8B-B14F-4D97-AF65-F5344CB8AC3E}">
        <p14:creationId xmlns:p14="http://schemas.microsoft.com/office/powerpoint/2010/main" val="2372642836"/>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054964-6AB2-0D36-5A46-87341699DA07}"/>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451328CB-7F2D-7190-503D-B9754072484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5167C4FD-5F45-CDC1-A5BD-76F7707705C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1EABE18B-00E1-D695-58CC-D568CBEE2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6" name="Picture 15">
            <a:extLst>
              <a:ext uri="{FF2B5EF4-FFF2-40B4-BE49-F238E27FC236}">
                <a16:creationId xmlns:a16="http://schemas.microsoft.com/office/drawing/2014/main" id="{23987F93-C23B-CBC6-4D13-38CFB355F4B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63BBF920-3DE3-3AAD-910D-1AD2E373CD9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2F458C74-4546-77FD-DE79-189724A40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1">
            <a:extLst>
              <a:ext uri="{FF2B5EF4-FFF2-40B4-BE49-F238E27FC236}">
                <a16:creationId xmlns:a16="http://schemas.microsoft.com/office/drawing/2014/main" id="{AA36B13D-C525-743E-7185-921505A9D6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4" name="Rectangle 23">
            <a:extLst>
              <a:ext uri="{FF2B5EF4-FFF2-40B4-BE49-F238E27FC236}">
                <a16:creationId xmlns:a16="http://schemas.microsoft.com/office/drawing/2014/main" id="{735A3A15-0686-7108-1539-2B31B3640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Freeform 7">
            <a:extLst>
              <a:ext uri="{FF2B5EF4-FFF2-40B4-BE49-F238E27FC236}">
                <a16:creationId xmlns:a16="http://schemas.microsoft.com/office/drawing/2014/main" id="{459F0ACE-F0C3-4716-D738-741F97F404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28" name="Freeform: Shape 27">
            <a:extLst>
              <a:ext uri="{FF2B5EF4-FFF2-40B4-BE49-F238E27FC236}">
                <a16:creationId xmlns:a16="http://schemas.microsoft.com/office/drawing/2014/main" id="{8CD5BFF3-A948-82C0-6256-3EA2ED604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IN"/>
          </a:p>
        </p:txBody>
      </p:sp>
      <p:sp>
        <p:nvSpPr>
          <p:cNvPr id="4" name="TextBox 3">
            <a:extLst>
              <a:ext uri="{FF2B5EF4-FFF2-40B4-BE49-F238E27FC236}">
                <a16:creationId xmlns:a16="http://schemas.microsoft.com/office/drawing/2014/main" id="{A3B4297E-53A1-B0ED-32A2-8FE0A160BC6D}"/>
              </a:ext>
            </a:extLst>
          </p:cNvPr>
          <p:cNvSpPr txBox="1"/>
          <p:nvPr/>
        </p:nvSpPr>
        <p:spPr>
          <a:xfrm>
            <a:off x="1103312" y="452718"/>
            <a:ext cx="8947522" cy="1400530"/>
          </a:xfrm>
          <a:prstGeom prst="rect">
            <a:avLst/>
          </a:prstGeom>
        </p:spPr>
        <p:txBody>
          <a:bodyPr vert="horz" lIns="91440" tIns="45720" rIns="91440" bIns="45720" rtlCol="0" anchor="ctr">
            <a:normAutofit/>
          </a:bodyPr>
          <a:lstStyle/>
          <a:p>
            <a:pPr algn="ctr">
              <a:spcBef>
                <a:spcPct val="0"/>
              </a:spcBef>
              <a:spcAft>
                <a:spcPts val="600"/>
              </a:spcAft>
            </a:pPr>
            <a:r>
              <a:rPr lang="en-US" sz="3200" b="0" i="0" kern="1200" dirty="0">
                <a:solidFill>
                  <a:srgbClr val="FFFFFF"/>
                </a:solidFill>
                <a:latin typeface="+mj-lt"/>
                <a:ea typeface="+mj-ea"/>
                <a:cs typeface="+mj-cs"/>
              </a:rPr>
              <a:t>1.UNDERSTANDING DATA AND BUSINESS ANALYSIS</a:t>
            </a:r>
          </a:p>
        </p:txBody>
      </p:sp>
      <p:sp>
        <p:nvSpPr>
          <p:cNvPr id="5" name="TextBox 4">
            <a:extLst>
              <a:ext uri="{FF2B5EF4-FFF2-40B4-BE49-F238E27FC236}">
                <a16:creationId xmlns:a16="http://schemas.microsoft.com/office/drawing/2014/main" id="{CD193ED4-F69C-B198-BBB8-DB5140C01F73}"/>
              </a:ext>
            </a:extLst>
          </p:cNvPr>
          <p:cNvSpPr txBox="1"/>
          <p:nvPr/>
        </p:nvSpPr>
        <p:spPr>
          <a:xfrm>
            <a:off x="1103312" y="2763520"/>
            <a:ext cx="8946541" cy="3484879"/>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pPr>
            <a:r>
              <a:rPr lang="en-US" dirty="0">
                <a:latin typeface="+mj-lt"/>
                <a:ea typeface="+mj-ea"/>
                <a:cs typeface="+mj-cs"/>
              </a:rPr>
              <a:t> </a:t>
            </a:r>
          </a:p>
        </p:txBody>
      </p:sp>
      <p:sp>
        <p:nvSpPr>
          <p:cNvPr id="8" name="TextBox 7">
            <a:extLst>
              <a:ext uri="{FF2B5EF4-FFF2-40B4-BE49-F238E27FC236}">
                <a16:creationId xmlns:a16="http://schemas.microsoft.com/office/drawing/2014/main" id="{C7D7B136-EC87-2406-77AA-29366088FD6F}"/>
              </a:ext>
            </a:extLst>
          </p:cNvPr>
          <p:cNvSpPr txBox="1"/>
          <p:nvPr/>
        </p:nvSpPr>
        <p:spPr>
          <a:xfrm>
            <a:off x="3046750" y="3094592"/>
            <a:ext cx="7003103" cy="3939540"/>
          </a:xfrm>
          <a:prstGeom prst="rect">
            <a:avLst/>
          </a:prstGeom>
          <a:noFill/>
        </p:spPr>
        <p:txBody>
          <a:bodyPr wrap="square">
            <a:spAutoFit/>
          </a:bodyPr>
          <a:lstStyle/>
          <a:p>
            <a:pPr marL="285750" indent="-285750">
              <a:buClr>
                <a:schemeClr val="bg1">
                  <a:lumMod val="95000"/>
                  <a:lumOff val="5000"/>
                </a:schemeClr>
              </a:buClr>
              <a:buFont typeface="Wingdings" panose="05000000000000000000" pitchFamily="2" charset="2"/>
              <a:buChar char="q"/>
            </a:pPr>
            <a:r>
              <a:rPr lang="en-IN" sz="2000" dirty="0"/>
              <a:t>defining the main goal ( increase sales, improve customer retention).</a:t>
            </a:r>
          </a:p>
          <a:p>
            <a:pPr marL="285750" indent="-285750">
              <a:buClr>
                <a:schemeClr val="bg1">
                  <a:lumMod val="95000"/>
                  <a:lumOff val="5000"/>
                </a:schemeClr>
              </a:buClr>
              <a:buFont typeface="Wingdings" panose="05000000000000000000" pitchFamily="2" charset="2"/>
              <a:buChar char="q"/>
            </a:pPr>
            <a:r>
              <a:rPr lang="en-IN" sz="2000" dirty="0"/>
              <a:t>Identifying key question to answer.</a:t>
            </a:r>
          </a:p>
          <a:p>
            <a:pPr marL="285750" indent="-285750">
              <a:buClr>
                <a:schemeClr val="bg1">
                  <a:lumMod val="95000"/>
                  <a:lumOff val="5000"/>
                </a:schemeClr>
              </a:buClr>
              <a:buFont typeface="Wingdings" panose="05000000000000000000" pitchFamily="2" charset="2"/>
              <a:buChar char="q"/>
            </a:pPr>
            <a:r>
              <a:rPr lang="en-IN" sz="2000" dirty="0"/>
              <a:t>Understanding business needs and expectations</a:t>
            </a:r>
          </a:p>
          <a:p>
            <a:pPr marL="285750" indent="-285750">
              <a:buClr>
                <a:schemeClr val="bg1">
                  <a:lumMod val="95000"/>
                  <a:lumOff val="5000"/>
                </a:schemeClr>
              </a:buClr>
              <a:buFont typeface="Wingdings" panose="05000000000000000000" pitchFamily="2" charset="2"/>
              <a:buChar char="q"/>
            </a:pPr>
            <a:r>
              <a:rPr lang="en-IN" sz="2000" dirty="0"/>
              <a:t>which product generates highest revenue?</a:t>
            </a:r>
          </a:p>
          <a:p>
            <a:pPr marL="285750" indent="-285750">
              <a:buClr>
                <a:schemeClr val="bg1">
                  <a:lumMod val="95000"/>
                  <a:lumOff val="5000"/>
                </a:schemeClr>
              </a:buClr>
              <a:buFont typeface="Wingdings" panose="05000000000000000000" pitchFamily="2" charset="2"/>
              <a:buChar char="q"/>
            </a:pPr>
            <a:r>
              <a:rPr lang="en-IN" sz="2000" dirty="0"/>
              <a:t>Which region perform best?</a:t>
            </a:r>
          </a:p>
          <a:p>
            <a:pPr>
              <a:buClr>
                <a:schemeClr val="bg1">
                  <a:lumMod val="95000"/>
                  <a:lumOff val="5000"/>
                </a:schemeClr>
              </a:buClr>
            </a:pPr>
            <a:r>
              <a:rPr lang="en-IN" sz="2000" dirty="0"/>
              <a:t>     And how to improve low sales area?</a:t>
            </a:r>
          </a:p>
          <a:p>
            <a:pPr marL="285750" indent="-285750">
              <a:buClr>
                <a:schemeClr val="bg1">
                  <a:lumMod val="95000"/>
                  <a:lumOff val="5000"/>
                </a:schemeClr>
              </a:buClr>
              <a:buFont typeface="Wingdings" panose="05000000000000000000" pitchFamily="2" charset="2"/>
              <a:buChar char="q"/>
            </a:pPr>
            <a:endParaRPr lang="en-IN" sz="2000" dirty="0"/>
          </a:p>
          <a:p>
            <a:pPr marL="285750" indent="-285750">
              <a:buClr>
                <a:schemeClr val="bg1">
                  <a:lumMod val="95000"/>
                  <a:lumOff val="5000"/>
                </a:schemeClr>
              </a:buClr>
              <a:buFont typeface="Wingdings" panose="05000000000000000000" pitchFamily="2" charset="2"/>
              <a:buChar char="q"/>
            </a:pPr>
            <a:endParaRPr lang="en-IN" dirty="0"/>
          </a:p>
          <a:p>
            <a:pPr marL="285750" indent="-285750">
              <a:buClr>
                <a:schemeClr val="bg1">
                  <a:lumMod val="95000"/>
                  <a:lumOff val="5000"/>
                </a:schemeClr>
              </a:buClr>
              <a:buFont typeface="Wingdings" panose="05000000000000000000" pitchFamily="2" charset="2"/>
              <a:buChar char="q"/>
            </a:pPr>
            <a:endParaRPr lang="en-IN" dirty="0"/>
          </a:p>
          <a:p>
            <a:pPr marL="285750" indent="-285750">
              <a:buClr>
                <a:schemeClr val="bg1">
                  <a:lumMod val="95000"/>
                  <a:lumOff val="5000"/>
                </a:schemeClr>
              </a:buClr>
              <a:buFont typeface="Wingdings" panose="05000000000000000000" pitchFamily="2" charset="2"/>
              <a:buChar char="q"/>
            </a:pPr>
            <a:endParaRPr lang="en-IN" dirty="0"/>
          </a:p>
          <a:p>
            <a:pPr marL="285750" indent="-285750">
              <a:buClr>
                <a:schemeClr val="bg1">
                  <a:lumMod val="95000"/>
                  <a:lumOff val="5000"/>
                </a:schemeClr>
              </a:buClr>
              <a:buFont typeface="Wingdings" panose="05000000000000000000" pitchFamily="2" charset="2"/>
              <a:buChar char="q"/>
            </a:pPr>
            <a:endParaRPr lang="en-IN" dirty="0"/>
          </a:p>
          <a:p>
            <a:pPr marL="285750" indent="-285750">
              <a:buClr>
                <a:schemeClr val="bg1">
                  <a:lumMod val="95000"/>
                  <a:lumOff val="5000"/>
                </a:schemeClr>
              </a:buClr>
              <a:buFont typeface="Wingdings" panose="05000000000000000000" pitchFamily="2" charset="2"/>
              <a:buChar char="q"/>
            </a:pPr>
            <a:endParaRPr lang="en-IN" dirty="0"/>
          </a:p>
        </p:txBody>
      </p:sp>
    </p:spTree>
    <p:extLst>
      <p:ext uri="{BB962C8B-B14F-4D97-AF65-F5344CB8AC3E}">
        <p14:creationId xmlns:p14="http://schemas.microsoft.com/office/powerpoint/2010/main" val="697768578"/>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80B2D7-CA3C-A229-B251-192A87DF2C33}"/>
              </a:ext>
            </a:extLst>
          </p:cNvPr>
          <p:cNvSpPr txBox="1"/>
          <p:nvPr/>
        </p:nvSpPr>
        <p:spPr>
          <a:xfrm>
            <a:off x="309797" y="1543987"/>
            <a:ext cx="6735580" cy="369332"/>
          </a:xfrm>
          <a:prstGeom prst="rect">
            <a:avLst/>
          </a:prstGeom>
          <a:noFill/>
        </p:spPr>
        <p:txBody>
          <a:bodyPr wrap="square" rtlCol="0">
            <a:spAutoFit/>
          </a:bodyPr>
          <a:lstStyle/>
          <a:p>
            <a:r>
              <a:rPr lang="en-IN" dirty="0">
                <a:latin typeface="Aharoni" panose="02010803020104030203" pitchFamily="2" charset="-79"/>
                <a:cs typeface="Aharoni" panose="02010803020104030203" pitchFamily="2" charset="-79"/>
              </a:rPr>
              <a:t>2.UNDERSTANDING THE DATA AND BUSINESS PROBLEM</a:t>
            </a:r>
          </a:p>
        </p:txBody>
      </p:sp>
      <p:sp>
        <p:nvSpPr>
          <p:cNvPr id="3" name="TextBox 2">
            <a:extLst>
              <a:ext uri="{FF2B5EF4-FFF2-40B4-BE49-F238E27FC236}">
                <a16:creationId xmlns:a16="http://schemas.microsoft.com/office/drawing/2014/main" id="{3BBD4003-63A9-64D1-7173-1A62C503901E}"/>
              </a:ext>
            </a:extLst>
          </p:cNvPr>
          <p:cNvSpPr txBox="1"/>
          <p:nvPr/>
        </p:nvSpPr>
        <p:spPr>
          <a:xfrm>
            <a:off x="1608530" y="5926103"/>
            <a:ext cx="8225017" cy="3693319"/>
          </a:xfrm>
          <a:prstGeom prst="rect">
            <a:avLst/>
          </a:prstGeom>
          <a:noFill/>
        </p:spPr>
        <p:txBody>
          <a:bodyPr wrap="square" rtlCol="0">
            <a:spAutoFit/>
          </a:bodyPr>
          <a:lstStyle/>
          <a:p>
            <a:pPr marL="285750" indent="-285750">
              <a:buClr>
                <a:schemeClr val="bg1"/>
              </a:buClr>
              <a:buFont typeface="Wingdings" panose="05000000000000000000" pitchFamily="2" charset="2"/>
              <a:buChar char="q"/>
            </a:pPr>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
        <p:nvSpPr>
          <p:cNvPr id="6" name="Rectangle 3">
            <a:extLst>
              <a:ext uri="{FF2B5EF4-FFF2-40B4-BE49-F238E27FC236}">
                <a16:creationId xmlns:a16="http://schemas.microsoft.com/office/drawing/2014/main" id="{5441ADBE-F720-1A40-255B-BAED9A495380}"/>
              </a:ext>
            </a:extLst>
          </p:cNvPr>
          <p:cNvSpPr>
            <a:spLocks noChangeArrowheads="1"/>
          </p:cNvSpPr>
          <p:nvPr/>
        </p:nvSpPr>
        <p:spPr bwMode="auto">
          <a:xfrm flipV="1">
            <a:off x="309796" y="156519"/>
            <a:ext cx="1188220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078652D5-4143-BC6B-D241-DA147225EF86}"/>
              </a:ext>
            </a:extLst>
          </p:cNvPr>
          <p:cNvSpPr txBox="1"/>
          <p:nvPr/>
        </p:nvSpPr>
        <p:spPr>
          <a:xfrm>
            <a:off x="1608530" y="2487313"/>
            <a:ext cx="8225018" cy="1754326"/>
          </a:xfrm>
          <a:prstGeom prst="rect">
            <a:avLst/>
          </a:prstGeom>
          <a:noFill/>
        </p:spPr>
        <p:txBody>
          <a:bodyPr wrap="square" rtlCol="0">
            <a:spAutoFit/>
          </a:bodyPr>
          <a:lstStyle/>
          <a:p>
            <a:pPr marL="285750" indent="-285750">
              <a:buClr>
                <a:schemeClr val="bg1">
                  <a:lumMod val="95000"/>
                  <a:lumOff val="5000"/>
                </a:schemeClr>
              </a:buClr>
              <a:buFont typeface="Wingdings" panose="05000000000000000000" pitchFamily="2" charset="2"/>
              <a:buChar char="q"/>
            </a:pPr>
            <a:r>
              <a:rPr lang="en-IN" dirty="0"/>
              <a:t> defining the main goal ( increase sales, improve customer retention).</a:t>
            </a:r>
          </a:p>
          <a:p>
            <a:pPr marL="285750" indent="-285750">
              <a:buClr>
                <a:schemeClr val="bg1">
                  <a:lumMod val="95000"/>
                  <a:lumOff val="5000"/>
                </a:schemeClr>
              </a:buClr>
              <a:buFont typeface="Wingdings" panose="05000000000000000000" pitchFamily="2" charset="2"/>
              <a:buChar char="q"/>
            </a:pPr>
            <a:r>
              <a:rPr lang="en-IN" dirty="0"/>
              <a:t> Identifying key question to answer.</a:t>
            </a:r>
          </a:p>
          <a:p>
            <a:pPr marL="285750" indent="-285750">
              <a:buClr>
                <a:schemeClr val="bg1">
                  <a:lumMod val="95000"/>
                  <a:lumOff val="5000"/>
                </a:schemeClr>
              </a:buClr>
              <a:buFont typeface="Wingdings" panose="05000000000000000000" pitchFamily="2" charset="2"/>
              <a:buChar char="q"/>
            </a:pPr>
            <a:r>
              <a:rPr lang="en-IN" dirty="0"/>
              <a:t> Understanding business needs and expectations.</a:t>
            </a:r>
          </a:p>
          <a:p>
            <a:pPr marL="285750" indent="-285750">
              <a:buClr>
                <a:schemeClr val="bg1">
                  <a:lumMod val="95000"/>
                  <a:lumOff val="5000"/>
                </a:schemeClr>
              </a:buClr>
              <a:buFont typeface="Wingdings" panose="05000000000000000000" pitchFamily="2" charset="2"/>
              <a:buChar char="q"/>
            </a:pPr>
            <a:r>
              <a:rPr lang="en-IN" dirty="0"/>
              <a:t> which product generates highest revenue?</a:t>
            </a:r>
          </a:p>
          <a:p>
            <a:pPr marL="285750" indent="-285750">
              <a:buClr>
                <a:schemeClr val="bg1">
                  <a:lumMod val="95000"/>
                  <a:lumOff val="5000"/>
                </a:schemeClr>
              </a:buClr>
              <a:buFont typeface="Wingdings" panose="05000000000000000000" pitchFamily="2" charset="2"/>
              <a:buChar char="q"/>
            </a:pPr>
            <a:r>
              <a:rPr lang="en-IN" dirty="0"/>
              <a:t> Which region perform best?</a:t>
            </a:r>
          </a:p>
          <a:p>
            <a:pPr marL="285750" indent="-285750">
              <a:buClr>
                <a:schemeClr val="bg1">
                  <a:lumMod val="95000"/>
                  <a:lumOff val="5000"/>
                </a:schemeClr>
              </a:buClr>
              <a:buFont typeface="Wingdings" panose="05000000000000000000" pitchFamily="2" charset="2"/>
              <a:buChar char="q"/>
            </a:pPr>
            <a:r>
              <a:rPr lang="en-IN" dirty="0"/>
              <a:t> And how to improve low sales area?</a:t>
            </a:r>
          </a:p>
        </p:txBody>
      </p:sp>
    </p:spTree>
    <p:extLst>
      <p:ext uri="{BB962C8B-B14F-4D97-AF65-F5344CB8AC3E}">
        <p14:creationId xmlns:p14="http://schemas.microsoft.com/office/powerpoint/2010/main" val="380470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94D65-0D5C-777F-DD86-00FFF60D3E6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6A42FD2-3858-482F-CCBD-20D31D73F68F}"/>
              </a:ext>
            </a:extLst>
          </p:cNvPr>
          <p:cNvSpPr txBox="1"/>
          <p:nvPr/>
        </p:nvSpPr>
        <p:spPr>
          <a:xfrm>
            <a:off x="309796" y="1009986"/>
            <a:ext cx="6735580" cy="369332"/>
          </a:xfrm>
          <a:prstGeom prst="rect">
            <a:avLst/>
          </a:prstGeom>
          <a:noFill/>
        </p:spPr>
        <p:txBody>
          <a:bodyPr wrap="square" rtlCol="0">
            <a:spAutoFit/>
          </a:bodyPr>
          <a:lstStyle/>
          <a:p>
            <a:r>
              <a:rPr lang="en-IN" dirty="0">
                <a:latin typeface="Aharoni" panose="02010803020104030203" pitchFamily="2" charset="-79"/>
                <a:cs typeface="Aharoni" panose="02010803020104030203" pitchFamily="2" charset="-79"/>
              </a:rPr>
              <a:t>3. NEWLY ADDEE COLUMNS:</a:t>
            </a:r>
          </a:p>
        </p:txBody>
      </p:sp>
      <p:sp>
        <p:nvSpPr>
          <p:cNvPr id="3" name="TextBox 2">
            <a:extLst>
              <a:ext uri="{FF2B5EF4-FFF2-40B4-BE49-F238E27FC236}">
                <a16:creationId xmlns:a16="http://schemas.microsoft.com/office/drawing/2014/main" id="{1BAD8CCE-47EB-183D-BAB9-D44F2BE85CFE}"/>
              </a:ext>
            </a:extLst>
          </p:cNvPr>
          <p:cNvSpPr txBox="1"/>
          <p:nvPr/>
        </p:nvSpPr>
        <p:spPr>
          <a:xfrm>
            <a:off x="1608530" y="5926103"/>
            <a:ext cx="8225017" cy="3693319"/>
          </a:xfrm>
          <a:prstGeom prst="rect">
            <a:avLst/>
          </a:prstGeom>
          <a:noFill/>
        </p:spPr>
        <p:txBody>
          <a:bodyPr wrap="square" rtlCol="0">
            <a:spAutoFit/>
          </a:bodyPr>
          <a:lstStyle/>
          <a:p>
            <a:pPr marL="285750" indent="-285750">
              <a:buClr>
                <a:schemeClr val="bg1"/>
              </a:buClr>
              <a:buFont typeface="Wingdings" panose="05000000000000000000" pitchFamily="2" charset="2"/>
              <a:buChar char="q"/>
            </a:pPr>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
        <p:nvSpPr>
          <p:cNvPr id="6" name="Rectangle 3">
            <a:extLst>
              <a:ext uri="{FF2B5EF4-FFF2-40B4-BE49-F238E27FC236}">
                <a16:creationId xmlns:a16="http://schemas.microsoft.com/office/drawing/2014/main" id="{06CC2095-DDE7-1AC7-440F-781C1E0085DC}"/>
              </a:ext>
            </a:extLst>
          </p:cNvPr>
          <p:cNvSpPr>
            <a:spLocks noChangeArrowheads="1"/>
          </p:cNvSpPr>
          <p:nvPr/>
        </p:nvSpPr>
        <p:spPr bwMode="auto">
          <a:xfrm flipV="1">
            <a:off x="309796" y="156519"/>
            <a:ext cx="1188220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A04F0F34-F832-80F7-4580-B616FFA455B3}"/>
              </a:ext>
            </a:extLst>
          </p:cNvPr>
          <p:cNvSpPr txBox="1"/>
          <p:nvPr/>
        </p:nvSpPr>
        <p:spPr>
          <a:xfrm>
            <a:off x="1608529" y="1933315"/>
            <a:ext cx="8225018" cy="4247317"/>
          </a:xfrm>
          <a:prstGeom prst="rect">
            <a:avLst/>
          </a:prstGeom>
          <a:noFill/>
        </p:spPr>
        <p:txBody>
          <a:bodyPr wrap="square" rtlCol="0">
            <a:spAutoFit/>
          </a:bodyPr>
          <a:lstStyle/>
          <a:p>
            <a:pPr marL="285750" indent="-285750">
              <a:buClr>
                <a:schemeClr val="bg1">
                  <a:lumMod val="95000"/>
                  <a:lumOff val="5000"/>
                </a:schemeClr>
              </a:buClr>
              <a:buFont typeface="Wingdings" panose="05000000000000000000" pitchFamily="2" charset="2"/>
              <a:buChar char="q"/>
            </a:pPr>
            <a:r>
              <a:rPr lang="en-IN" dirty="0"/>
              <a:t>We added new columns name sales performance and ordered month.</a:t>
            </a:r>
          </a:p>
          <a:p>
            <a:pPr marL="285750" indent="-285750">
              <a:buClr>
                <a:schemeClr val="bg1">
                  <a:lumMod val="95000"/>
                  <a:lumOff val="5000"/>
                </a:schemeClr>
              </a:buClr>
              <a:buFont typeface="Wingdings" panose="05000000000000000000" pitchFamily="2" charset="2"/>
              <a:buChar char="q"/>
            </a:pPr>
            <a:r>
              <a:rPr lang="en-IN" b="1" dirty="0"/>
              <a:t>Sales performance</a:t>
            </a:r>
            <a:r>
              <a:rPr lang="en-IN" dirty="0"/>
              <a:t>, it represents the total revenue generated from sales transactions.it is one of the most important metrics  used to evaluate how well the business is performing.</a:t>
            </a:r>
          </a:p>
          <a:p>
            <a:pPr marL="285750" indent="-285750">
              <a:buClr>
                <a:schemeClr val="bg1">
                  <a:lumMod val="95000"/>
                  <a:lumOff val="5000"/>
                </a:schemeClr>
              </a:buClr>
              <a:buFont typeface="Wingdings" panose="05000000000000000000" pitchFamily="2" charset="2"/>
              <a:buChar char="q"/>
            </a:pPr>
            <a:r>
              <a:rPr lang="en-IN" dirty="0"/>
              <a:t>It helps us to ,</a:t>
            </a:r>
            <a:r>
              <a:rPr lang="en-US" dirty="0"/>
              <a:t> Higher values indicate strong sales and demand, Lower values may highlight issues like low demand or poor marketing, Trends (increase/decrease) help in forecasting future sales</a:t>
            </a:r>
          </a:p>
          <a:p>
            <a:pPr marL="285750" indent="-285750">
              <a:buClr>
                <a:schemeClr val="bg1">
                  <a:lumMod val="95000"/>
                  <a:lumOff val="5000"/>
                </a:schemeClr>
              </a:buClr>
              <a:buFont typeface="Wingdings" panose="05000000000000000000" pitchFamily="2" charset="2"/>
              <a:buChar char="q"/>
            </a:pPr>
            <a:r>
              <a:rPr lang="en-US" b="1" dirty="0"/>
              <a:t>Ordered month, </a:t>
            </a:r>
            <a:r>
              <a:rPr lang="en-IN" dirty="0"/>
              <a:t>it represents the month in which product or order was placed by the customer.</a:t>
            </a:r>
          </a:p>
          <a:p>
            <a:pPr marL="285750" indent="-285750">
              <a:buClr>
                <a:schemeClr val="bg1">
                  <a:lumMod val="95000"/>
                  <a:lumOff val="5000"/>
                </a:schemeClr>
              </a:buClr>
              <a:buFont typeface="Wingdings" panose="05000000000000000000" pitchFamily="2" charset="2"/>
              <a:buChar char="q"/>
            </a:pPr>
            <a:r>
              <a:rPr lang="en-IN" dirty="0"/>
              <a:t>It helps us to ,we can find which month has highest sales</a:t>
            </a:r>
          </a:p>
          <a:p>
            <a:pPr marL="285750" indent="-285750">
              <a:buClr>
                <a:schemeClr val="bg1">
                  <a:lumMod val="95000"/>
                  <a:lumOff val="5000"/>
                </a:schemeClr>
              </a:buClr>
              <a:buFont typeface="Wingdings" panose="05000000000000000000" pitchFamily="2" charset="2"/>
              <a:buChar char="q"/>
            </a:pPr>
            <a:r>
              <a:rPr lang="en-IN" dirty="0"/>
              <a:t>Detect sales business periods.</a:t>
            </a:r>
          </a:p>
          <a:p>
            <a:pPr marL="285750" indent="-285750">
              <a:buClr>
                <a:schemeClr val="bg1">
                  <a:lumMod val="95000"/>
                  <a:lumOff val="5000"/>
                </a:schemeClr>
              </a:buClr>
              <a:buFont typeface="Wingdings" panose="05000000000000000000" pitchFamily="2" charset="2"/>
              <a:buChar char="q"/>
            </a:pPr>
            <a:r>
              <a:rPr lang="en-IN" dirty="0" err="1"/>
              <a:t>Analyze</a:t>
            </a:r>
            <a:r>
              <a:rPr lang="en-IN" dirty="0"/>
              <a:t> monthly growth trends.</a:t>
            </a:r>
          </a:p>
          <a:p>
            <a:pPr marL="285750" indent="-285750">
              <a:buClr>
                <a:schemeClr val="bg1">
                  <a:lumMod val="95000"/>
                  <a:lumOff val="5000"/>
                </a:schemeClr>
              </a:buClr>
              <a:buFont typeface="Wingdings" panose="05000000000000000000" pitchFamily="2" charset="2"/>
              <a:buChar char="q"/>
            </a:pPr>
            <a:endParaRPr lang="en-US" dirty="0"/>
          </a:p>
          <a:p>
            <a:pPr marL="285750" indent="-285750">
              <a:buClr>
                <a:schemeClr val="bg1">
                  <a:lumMod val="95000"/>
                  <a:lumOff val="5000"/>
                </a:schemeClr>
              </a:buClr>
              <a:buFont typeface="Wingdings" panose="05000000000000000000" pitchFamily="2" charset="2"/>
              <a:buChar char="q"/>
            </a:pPr>
            <a:endParaRPr lang="en-US" dirty="0"/>
          </a:p>
        </p:txBody>
      </p:sp>
      <p:sp>
        <p:nvSpPr>
          <p:cNvPr id="4" name="Rectangle 1">
            <a:extLst>
              <a:ext uri="{FF2B5EF4-FFF2-40B4-BE49-F238E27FC236}">
                <a16:creationId xmlns:a16="http://schemas.microsoft.com/office/drawing/2014/main" id="{B600BB60-E52E-F25E-FACD-EECA41DF272E}"/>
              </a:ext>
            </a:extLst>
          </p:cNvPr>
          <p:cNvSpPr>
            <a:spLocks noChangeArrowheads="1"/>
          </p:cNvSpPr>
          <p:nvPr/>
        </p:nvSpPr>
        <p:spPr bwMode="auto">
          <a:xfrm>
            <a:off x="3527684" y="336402"/>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27308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4" name="Picture 33">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6" name="Oval 35">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38" name="Picture 37">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40" name="Picture 39">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42" name="Rectangle 41">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4" name="Rectangle 43">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46" name="Rectangle 45">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8"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50" name="Freeform: Shape 49">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IN"/>
          </a:p>
        </p:txBody>
      </p:sp>
      <p:sp>
        <p:nvSpPr>
          <p:cNvPr id="2" name="TextBox 1">
            <a:extLst>
              <a:ext uri="{FF2B5EF4-FFF2-40B4-BE49-F238E27FC236}">
                <a16:creationId xmlns:a16="http://schemas.microsoft.com/office/drawing/2014/main" id="{2A04FEB6-23CE-5746-DE2B-40879162EEAB}"/>
              </a:ext>
            </a:extLst>
          </p:cNvPr>
          <p:cNvSpPr txBox="1"/>
          <p:nvPr/>
        </p:nvSpPr>
        <p:spPr>
          <a:xfrm>
            <a:off x="1103312" y="452718"/>
            <a:ext cx="8947522" cy="1400530"/>
          </a:xfrm>
          <a:prstGeom prst="rect">
            <a:avLst/>
          </a:prstGeom>
        </p:spPr>
        <p:txBody>
          <a:bodyPr vert="horz" lIns="91440" tIns="45720" rIns="91440" bIns="45720" rtlCol="0" anchor="ctr">
            <a:normAutofit/>
          </a:bodyPr>
          <a:lstStyle/>
          <a:p>
            <a:pPr>
              <a:spcBef>
                <a:spcPct val="0"/>
              </a:spcBef>
              <a:spcAft>
                <a:spcPts val="600"/>
              </a:spcAft>
            </a:pPr>
            <a:r>
              <a:rPr lang="en-US" sz="4200" b="0" i="0" kern="1200" dirty="0">
                <a:solidFill>
                  <a:srgbClr val="FFFFFF"/>
                </a:solidFill>
                <a:latin typeface="+mj-lt"/>
                <a:ea typeface="+mj-ea"/>
                <a:cs typeface="+mj-cs"/>
              </a:rPr>
              <a:t>4. PIVOT TABLE ANALYSIS:</a:t>
            </a:r>
          </a:p>
        </p:txBody>
      </p:sp>
      <p:sp>
        <p:nvSpPr>
          <p:cNvPr id="3" name="TextBox 2">
            <a:extLst>
              <a:ext uri="{FF2B5EF4-FFF2-40B4-BE49-F238E27FC236}">
                <a16:creationId xmlns:a16="http://schemas.microsoft.com/office/drawing/2014/main" id="{05AAE6F5-FE4B-06BA-DCCA-4E80C0A51D3F}"/>
              </a:ext>
            </a:extLst>
          </p:cNvPr>
          <p:cNvSpPr txBox="1"/>
          <p:nvPr/>
        </p:nvSpPr>
        <p:spPr>
          <a:xfrm>
            <a:off x="1103312" y="2763520"/>
            <a:ext cx="8946541" cy="3484879"/>
          </a:xfrm>
          <a:prstGeom prst="rect">
            <a:avLst/>
          </a:prstGeom>
        </p:spPr>
        <p:txBody>
          <a:bodyPr vert="horz" lIns="91440" tIns="45720" rIns="91440" bIns="45720" rtlCol="0">
            <a:normAutofit/>
          </a:bodyPr>
          <a:lstStyle/>
          <a:p>
            <a:pPr marL="285750" indent="-285750">
              <a:spcBef>
                <a:spcPts val="1000"/>
              </a:spcBef>
              <a:buClr>
                <a:schemeClr val="bg2">
                  <a:lumMod val="40000"/>
                  <a:lumOff val="60000"/>
                </a:schemeClr>
              </a:buClr>
              <a:buSzPct val="80000"/>
              <a:buFont typeface="Wingdings 3" charset="2"/>
              <a:buChar char=""/>
            </a:pPr>
            <a:r>
              <a:rPr lang="en-US">
                <a:latin typeface="+mj-lt"/>
                <a:ea typeface="+mj-ea"/>
                <a:cs typeface="+mj-cs"/>
              </a:rPr>
              <a:t>A pivot table is used to summarize and analyze data.</a:t>
            </a:r>
          </a:p>
          <a:p>
            <a:pPr marL="285750" indent="-285750">
              <a:spcBef>
                <a:spcPts val="1000"/>
              </a:spcBef>
              <a:buClr>
                <a:schemeClr val="bg2">
                  <a:lumMod val="40000"/>
                  <a:lumOff val="60000"/>
                </a:schemeClr>
              </a:buClr>
              <a:buSzPct val="80000"/>
              <a:buFont typeface="Wingdings 3" charset="2"/>
              <a:buChar char=""/>
            </a:pPr>
            <a:r>
              <a:rPr lang="en-US">
                <a:latin typeface="+mj-lt"/>
                <a:ea typeface="+mj-ea"/>
                <a:cs typeface="+mj-cs"/>
              </a:rPr>
              <a:t>Converts raw data into meaningful insights, helps in quick decision making.</a:t>
            </a:r>
          </a:p>
          <a:p>
            <a:pPr marL="285750" indent="-285750">
              <a:spcBef>
                <a:spcPts val="1000"/>
              </a:spcBef>
              <a:buClr>
                <a:schemeClr val="bg2">
                  <a:lumMod val="40000"/>
                  <a:lumOff val="60000"/>
                </a:schemeClr>
              </a:buClr>
              <a:buSzPct val="80000"/>
              <a:buFont typeface="Wingdings 3" charset="2"/>
              <a:buChar char=""/>
            </a:pPr>
            <a:r>
              <a:rPr lang="en-US">
                <a:latin typeface="+mj-lt"/>
                <a:ea typeface="+mj-ea"/>
                <a:cs typeface="+mj-cs"/>
              </a:rPr>
              <a:t>Simplifies large data, performs calculations/(sum, average, count), easy comparison of data, saves time and effort.</a:t>
            </a:r>
          </a:p>
          <a:p>
            <a:pPr marL="285750" indent="-285750">
              <a:spcBef>
                <a:spcPts val="1000"/>
              </a:spcBef>
              <a:buClr>
                <a:schemeClr val="bg2">
                  <a:lumMod val="40000"/>
                  <a:lumOff val="60000"/>
                </a:schemeClr>
              </a:buClr>
              <a:buSzPct val="80000"/>
              <a:buFont typeface="Wingdings 3" charset="2"/>
              <a:buChar char=""/>
            </a:pPr>
            <a:r>
              <a:rPr lang="en-US">
                <a:latin typeface="+mj-lt"/>
                <a:ea typeface="+mj-ea"/>
                <a:cs typeface="+mj-cs"/>
              </a:rPr>
              <a:t>A pivot table is a powerful tool that turns raw data into useful insights, making analysis faster and easier.</a:t>
            </a:r>
          </a:p>
          <a:p>
            <a:pPr marL="285750" indent="-285750">
              <a:spcBef>
                <a:spcPts val="1000"/>
              </a:spcBef>
              <a:buClr>
                <a:schemeClr val="bg2">
                  <a:lumMod val="40000"/>
                  <a:lumOff val="60000"/>
                </a:schemeClr>
              </a:buClr>
              <a:buSzPct val="80000"/>
              <a:buFont typeface="Wingdings 3" charset="2"/>
              <a:buChar char=""/>
            </a:pPr>
            <a:endParaRPr lang="en-US">
              <a:latin typeface="+mj-lt"/>
              <a:ea typeface="+mj-ea"/>
              <a:cs typeface="+mj-cs"/>
            </a:endParaRPr>
          </a:p>
          <a:p>
            <a:pPr>
              <a:spcBef>
                <a:spcPts val="1000"/>
              </a:spcBef>
              <a:buClr>
                <a:schemeClr val="bg2">
                  <a:lumMod val="40000"/>
                  <a:lumOff val="60000"/>
                </a:schemeClr>
              </a:buClr>
              <a:buSzPct val="80000"/>
              <a:buFont typeface="Wingdings 3" charset="2"/>
              <a:buChar char=""/>
            </a:pPr>
            <a:r>
              <a:rPr lang="en-US">
                <a:latin typeface="+mj-lt"/>
                <a:ea typeface="+mj-ea"/>
                <a:cs typeface="+mj-cs"/>
              </a:rPr>
              <a:t>   </a:t>
            </a:r>
          </a:p>
          <a:p>
            <a:pPr>
              <a:spcBef>
                <a:spcPts val="1000"/>
              </a:spcBef>
              <a:buClr>
                <a:schemeClr val="bg2">
                  <a:lumMod val="40000"/>
                  <a:lumOff val="60000"/>
                </a:schemeClr>
              </a:buClr>
              <a:buSzPct val="80000"/>
              <a:buFont typeface="Wingdings 3" charset="2"/>
              <a:buChar char=""/>
            </a:pPr>
            <a:endParaRPr lang="en-US">
              <a:latin typeface="+mj-lt"/>
              <a:ea typeface="+mj-ea"/>
              <a:cs typeface="+mj-cs"/>
            </a:endParaRPr>
          </a:p>
          <a:p>
            <a:pPr>
              <a:spcBef>
                <a:spcPts val="1000"/>
              </a:spcBef>
              <a:buClr>
                <a:schemeClr val="bg2">
                  <a:lumMod val="40000"/>
                  <a:lumOff val="60000"/>
                </a:schemeClr>
              </a:buClr>
              <a:buSzPct val="80000"/>
              <a:buFont typeface="Wingdings 3" charset="2"/>
              <a:buChar char=""/>
            </a:pPr>
            <a:endParaRPr lang="en-US">
              <a:latin typeface="+mj-lt"/>
              <a:ea typeface="+mj-ea"/>
              <a:cs typeface="+mj-cs"/>
            </a:endParaRPr>
          </a:p>
          <a:p>
            <a:pPr>
              <a:spcBef>
                <a:spcPts val="1000"/>
              </a:spcBef>
              <a:buClr>
                <a:schemeClr val="bg2">
                  <a:lumMod val="40000"/>
                  <a:lumOff val="60000"/>
                </a:schemeClr>
              </a:buClr>
              <a:buSzPct val="80000"/>
              <a:buFont typeface="Wingdings 3" charset="2"/>
              <a:buChar char=""/>
            </a:pPr>
            <a:endParaRPr lang="en-US">
              <a:latin typeface="+mj-lt"/>
              <a:ea typeface="+mj-ea"/>
              <a:cs typeface="+mj-cs"/>
            </a:endParaRPr>
          </a:p>
          <a:p>
            <a:pPr>
              <a:spcBef>
                <a:spcPts val="1000"/>
              </a:spcBef>
              <a:buClr>
                <a:schemeClr val="bg2">
                  <a:lumMod val="40000"/>
                  <a:lumOff val="60000"/>
                </a:schemeClr>
              </a:buClr>
              <a:buSzPct val="80000"/>
              <a:buFont typeface="Wingdings 3" charset="2"/>
              <a:buChar char=""/>
            </a:pPr>
            <a:endParaRPr lang="en-US">
              <a:latin typeface="+mj-lt"/>
              <a:ea typeface="+mj-ea"/>
              <a:cs typeface="+mj-cs"/>
            </a:endParaRPr>
          </a:p>
          <a:p>
            <a:pPr>
              <a:spcBef>
                <a:spcPts val="1000"/>
              </a:spcBef>
              <a:buClr>
                <a:schemeClr val="bg2">
                  <a:lumMod val="40000"/>
                  <a:lumOff val="60000"/>
                </a:schemeClr>
              </a:buClr>
              <a:buSzPct val="80000"/>
              <a:buFont typeface="Wingdings 3" charset="2"/>
              <a:buChar char=""/>
            </a:pPr>
            <a:endParaRPr lang="en-US">
              <a:latin typeface="+mj-lt"/>
              <a:ea typeface="+mj-ea"/>
              <a:cs typeface="+mj-cs"/>
            </a:endParaRPr>
          </a:p>
          <a:p>
            <a:pPr>
              <a:spcBef>
                <a:spcPts val="1000"/>
              </a:spcBef>
              <a:buClr>
                <a:schemeClr val="bg2">
                  <a:lumMod val="40000"/>
                  <a:lumOff val="60000"/>
                </a:schemeClr>
              </a:buClr>
              <a:buSzPct val="80000"/>
              <a:buFont typeface="Wingdings 3" charset="2"/>
              <a:buChar char=""/>
            </a:pPr>
            <a:endParaRPr lang="en-US">
              <a:latin typeface="+mj-lt"/>
              <a:ea typeface="+mj-ea"/>
              <a:cs typeface="+mj-cs"/>
            </a:endParaRPr>
          </a:p>
          <a:p>
            <a:pPr>
              <a:spcBef>
                <a:spcPts val="1000"/>
              </a:spcBef>
              <a:buClr>
                <a:schemeClr val="bg2">
                  <a:lumMod val="40000"/>
                  <a:lumOff val="60000"/>
                </a:schemeClr>
              </a:buClr>
              <a:buSzPct val="80000"/>
              <a:buFont typeface="Wingdings 3" charset="2"/>
              <a:buChar char=""/>
            </a:pPr>
            <a:endParaRPr lang="en-US">
              <a:latin typeface="+mj-lt"/>
              <a:ea typeface="+mj-ea"/>
              <a:cs typeface="+mj-cs"/>
            </a:endParaRPr>
          </a:p>
          <a:p>
            <a:pPr>
              <a:spcBef>
                <a:spcPts val="1000"/>
              </a:spcBef>
              <a:buClr>
                <a:schemeClr val="bg2">
                  <a:lumMod val="40000"/>
                  <a:lumOff val="60000"/>
                </a:schemeClr>
              </a:buClr>
              <a:buSzPct val="80000"/>
              <a:buFont typeface="Wingdings 3" charset="2"/>
              <a:buChar char=""/>
            </a:pPr>
            <a:endParaRPr lang="en-US">
              <a:latin typeface="+mj-lt"/>
              <a:ea typeface="+mj-ea"/>
              <a:cs typeface="+mj-cs"/>
            </a:endParaRPr>
          </a:p>
          <a:p>
            <a:pPr>
              <a:spcBef>
                <a:spcPts val="1000"/>
              </a:spcBef>
              <a:buClr>
                <a:schemeClr val="bg2">
                  <a:lumMod val="40000"/>
                  <a:lumOff val="60000"/>
                </a:schemeClr>
              </a:buClr>
              <a:buSzPct val="80000"/>
              <a:buFont typeface="Wingdings 3" charset="2"/>
              <a:buChar char=""/>
            </a:pPr>
            <a:endParaRPr lang="en-US">
              <a:latin typeface="+mj-lt"/>
              <a:ea typeface="+mj-ea"/>
              <a:cs typeface="+mj-cs"/>
            </a:endParaRPr>
          </a:p>
          <a:p>
            <a:pPr>
              <a:spcBef>
                <a:spcPts val="1000"/>
              </a:spcBef>
              <a:buClr>
                <a:schemeClr val="bg2">
                  <a:lumMod val="40000"/>
                  <a:lumOff val="60000"/>
                </a:schemeClr>
              </a:buClr>
              <a:buSzPct val="80000"/>
              <a:buFont typeface="Wingdings 3" charset="2"/>
              <a:buChar char=""/>
            </a:pPr>
            <a:endParaRPr lang="en-US">
              <a:latin typeface="+mj-lt"/>
              <a:ea typeface="+mj-ea"/>
              <a:cs typeface="+mj-cs"/>
            </a:endParaRPr>
          </a:p>
          <a:p>
            <a:pPr>
              <a:spcBef>
                <a:spcPts val="1000"/>
              </a:spcBef>
              <a:buClr>
                <a:schemeClr val="bg2">
                  <a:lumMod val="40000"/>
                  <a:lumOff val="60000"/>
                </a:schemeClr>
              </a:buClr>
              <a:buSzPct val="80000"/>
              <a:buFont typeface="Wingdings 3" charset="2"/>
              <a:buChar char=""/>
            </a:pPr>
            <a:endParaRPr lang="en-US">
              <a:latin typeface="+mj-lt"/>
              <a:ea typeface="+mj-ea"/>
              <a:cs typeface="+mj-cs"/>
            </a:endParaRPr>
          </a:p>
          <a:p>
            <a:pPr>
              <a:spcBef>
                <a:spcPts val="1000"/>
              </a:spcBef>
              <a:buClr>
                <a:schemeClr val="bg2">
                  <a:lumMod val="40000"/>
                  <a:lumOff val="60000"/>
                </a:schemeClr>
              </a:buClr>
              <a:buSzPct val="80000"/>
              <a:buFont typeface="Wingdings 3" charset="2"/>
              <a:buChar char=""/>
            </a:pPr>
            <a:endParaRPr lang="en-US">
              <a:latin typeface="+mj-lt"/>
              <a:ea typeface="+mj-ea"/>
              <a:cs typeface="+mj-cs"/>
            </a:endParaRPr>
          </a:p>
          <a:p>
            <a:pPr>
              <a:spcBef>
                <a:spcPts val="1000"/>
              </a:spcBef>
              <a:buClr>
                <a:schemeClr val="bg2">
                  <a:lumMod val="40000"/>
                  <a:lumOff val="60000"/>
                </a:schemeClr>
              </a:buClr>
              <a:buSzPct val="80000"/>
              <a:buFont typeface="Wingdings 3" charset="2"/>
              <a:buChar char=""/>
            </a:pPr>
            <a:endParaRPr lang="en-US">
              <a:latin typeface="+mj-lt"/>
              <a:ea typeface="+mj-ea"/>
              <a:cs typeface="+mj-cs"/>
            </a:endParaRPr>
          </a:p>
          <a:p>
            <a:pPr>
              <a:spcBef>
                <a:spcPts val="1000"/>
              </a:spcBef>
              <a:buClr>
                <a:schemeClr val="bg2">
                  <a:lumMod val="40000"/>
                  <a:lumOff val="60000"/>
                </a:schemeClr>
              </a:buClr>
              <a:buSzPct val="80000"/>
              <a:buFont typeface="Wingdings 3" charset="2"/>
              <a:buChar char=""/>
            </a:pPr>
            <a:endParaRPr lang="en-US">
              <a:latin typeface="+mj-lt"/>
              <a:ea typeface="+mj-ea"/>
              <a:cs typeface="+mj-cs"/>
            </a:endParaRPr>
          </a:p>
          <a:p>
            <a:pPr>
              <a:spcBef>
                <a:spcPts val="1000"/>
              </a:spcBef>
              <a:buClr>
                <a:schemeClr val="bg2">
                  <a:lumMod val="40000"/>
                  <a:lumOff val="60000"/>
                </a:schemeClr>
              </a:buClr>
              <a:buSzPct val="80000"/>
              <a:buFont typeface="Wingdings 3" charset="2"/>
              <a:buChar char=""/>
            </a:pPr>
            <a:endParaRPr lang="en-US">
              <a:latin typeface="+mj-lt"/>
              <a:ea typeface="+mj-ea"/>
              <a:cs typeface="+mj-cs"/>
            </a:endParaRPr>
          </a:p>
          <a:p>
            <a:pPr>
              <a:spcBef>
                <a:spcPts val="1000"/>
              </a:spcBef>
              <a:buClr>
                <a:schemeClr val="bg2">
                  <a:lumMod val="40000"/>
                  <a:lumOff val="60000"/>
                </a:schemeClr>
              </a:buClr>
              <a:buSzPct val="80000"/>
              <a:buFont typeface="Wingdings 3" charset="2"/>
              <a:buChar char=""/>
            </a:pPr>
            <a:endParaRPr lang="en-US">
              <a:latin typeface="+mj-lt"/>
              <a:ea typeface="+mj-ea"/>
              <a:cs typeface="+mj-cs"/>
            </a:endParaRPr>
          </a:p>
        </p:txBody>
      </p:sp>
      <p:sp>
        <p:nvSpPr>
          <p:cNvPr id="4" name="Rectangle 1">
            <a:extLst>
              <a:ext uri="{FF2B5EF4-FFF2-40B4-BE49-F238E27FC236}">
                <a16:creationId xmlns:a16="http://schemas.microsoft.com/office/drawing/2014/main" id="{24A64A4F-7259-E9C8-8159-1AD5AA535614}"/>
              </a:ext>
            </a:extLst>
          </p:cNvPr>
          <p:cNvSpPr>
            <a:spLocks noChangeArrowheads="1"/>
          </p:cNvSpPr>
          <p:nvPr/>
        </p:nvSpPr>
        <p:spPr bwMode="auto">
          <a:xfrm>
            <a:off x="584616" y="395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99483665"/>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0" name="Picture 9">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2" name="Oval 11">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4" name="Picture 13">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6" name="Picture 15">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8" name="Rectangle 17">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Rectangle 19">
            <a:extLst>
              <a:ext uri="{FF2B5EF4-FFF2-40B4-BE49-F238E27FC236}">
                <a16:creationId xmlns:a16="http://schemas.microsoft.com/office/drawing/2014/main" id="{DE27238C-8EAF-4098-86E6-7723B7DAE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2" name="Freeform 36">
            <a:extLst>
              <a:ext uri="{FF2B5EF4-FFF2-40B4-BE49-F238E27FC236}">
                <a16:creationId xmlns:a16="http://schemas.microsoft.com/office/drawing/2014/main" id="{992F97B1-1891-4FCC-9E5F-BA97EDB48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n-US"/>
          </a:p>
        </p:txBody>
      </p:sp>
      <p:sp useBgFill="1">
        <p:nvSpPr>
          <p:cNvPr id="24" name="Freeform: Shape 23">
            <a:extLst>
              <a:ext uri="{FF2B5EF4-FFF2-40B4-BE49-F238E27FC236}">
                <a16:creationId xmlns:a16="http://schemas.microsoft.com/office/drawing/2014/main" id="{78C6C821-FEE1-4EB6-9590-C021440C7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TextBox 2">
            <a:extLst>
              <a:ext uri="{FF2B5EF4-FFF2-40B4-BE49-F238E27FC236}">
                <a16:creationId xmlns:a16="http://schemas.microsoft.com/office/drawing/2014/main" id="{06E26C6E-650C-3919-18A6-7A19A53906B9}"/>
              </a:ext>
            </a:extLst>
          </p:cNvPr>
          <p:cNvSpPr txBox="1"/>
          <p:nvPr/>
        </p:nvSpPr>
        <p:spPr>
          <a:xfrm>
            <a:off x="1154955" y="1447800"/>
            <a:ext cx="7240859" cy="3329581"/>
          </a:xfrm>
          <a:prstGeom prst="rect">
            <a:avLst/>
          </a:prstGeom>
        </p:spPr>
        <p:txBody>
          <a:bodyPr vert="horz" lIns="91440" tIns="45720" rIns="91440" bIns="45720" rtlCol="0" anchor="b">
            <a:normAutofit/>
          </a:bodyPr>
          <a:lstStyle/>
          <a:p>
            <a:pPr>
              <a:spcBef>
                <a:spcPct val="0"/>
              </a:spcBef>
              <a:spcAft>
                <a:spcPts val="600"/>
              </a:spcAft>
            </a:pPr>
            <a:r>
              <a:rPr lang="en-US" sz="7200" b="0" i="0" kern="1200" dirty="0">
                <a:solidFill>
                  <a:schemeClr val="tx2"/>
                </a:solidFill>
                <a:latin typeface="+mj-lt"/>
                <a:ea typeface="+mj-ea"/>
                <a:cs typeface="+mj-cs"/>
              </a:rPr>
              <a:t>5. PIVOT </a:t>
            </a:r>
            <a:r>
              <a:rPr lang="en-US" sz="7200" dirty="0">
                <a:solidFill>
                  <a:schemeClr val="tx2"/>
                </a:solidFill>
                <a:latin typeface="+mj-lt"/>
                <a:ea typeface="+mj-ea"/>
                <a:cs typeface="+mj-cs"/>
              </a:rPr>
              <a:t>CHART</a:t>
            </a:r>
            <a:r>
              <a:rPr lang="en-US" sz="7200" b="0" i="0" kern="1200" dirty="0">
                <a:solidFill>
                  <a:schemeClr val="tx2"/>
                </a:solidFill>
                <a:latin typeface="+mj-lt"/>
                <a:ea typeface="+mj-ea"/>
                <a:cs typeface="+mj-cs"/>
              </a:rPr>
              <a:t> ANALYSIS:</a:t>
            </a:r>
          </a:p>
        </p:txBody>
      </p:sp>
      <p:sp>
        <p:nvSpPr>
          <p:cNvPr id="26" name="Rectangle 25">
            <a:extLst>
              <a:ext uri="{FF2B5EF4-FFF2-40B4-BE49-F238E27FC236}">
                <a16:creationId xmlns:a16="http://schemas.microsoft.com/office/drawing/2014/main" id="{B61A74B3-E247-44D4-8C48-FAE8E20564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4229667607"/>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4" name="Picture 13">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8" name="Picture 17">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0" name="Picture 19">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2" name="Rectangle 21">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3">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3E4D287-CFDC-4202-DDFB-1B2AAB9908E7}"/>
              </a:ext>
            </a:extLst>
          </p:cNvPr>
          <p:cNvSpPr txBox="1"/>
          <p:nvPr/>
        </p:nvSpPr>
        <p:spPr>
          <a:xfrm>
            <a:off x="763588" y="401573"/>
            <a:ext cx="3910170" cy="1402646"/>
          </a:xfrm>
          <a:prstGeom prst="rect">
            <a:avLst/>
          </a:prstGeom>
        </p:spPr>
        <p:txBody>
          <a:bodyPr vert="horz" lIns="91440" tIns="45720" rIns="91440" bIns="45720" rtlCol="0" anchor="t">
            <a:normAutofit fontScale="92500"/>
          </a:bodyPr>
          <a:lstStyle/>
          <a:p>
            <a:pPr>
              <a:spcBef>
                <a:spcPct val="0"/>
              </a:spcBef>
              <a:spcAft>
                <a:spcPts val="600"/>
              </a:spcAft>
            </a:pPr>
            <a:r>
              <a:rPr lang="en-US" sz="4200" b="0" i="0" kern="1200" dirty="0">
                <a:solidFill>
                  <a:srgbClr val="EBEBEB"/>
                </a:solidFill>
                <a:latin typeface="+mj-lt"/>
                <a:ea typeface="+mj-ea"/>
                <a:cs typeface="+mj-cs"/>
              </a:rPr>
              <a:t> TOTAL PROFIT PER PRODUCT:</a:t>
            </a:r>
          </a:p>
        </p:txBody>
      </p:sp>
      <p:sp>
        <p:nvSpPr>
          <p:cNvPr id="26"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8" name="Freeform: Shape 27">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IN"/>
          </a:p>
        </p:txBody>
      </p:sp>
      <p:pic>
        <p:nvPicPr>
          <p:cNvPr id="5" name="Picture 4">
            <a:extLst>
              <a:ext uri="{FF2B5EF4-FFF2-40B4-BE49-F238E27FC236}">
                <a16:creationId xmlns:a16="http://schemas.microsoft.com/office/drawing/2014/main" id="{2DBAC139-DA1C-225D-F803-1B71AA924FB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3992" y="1525076"/>
            <a:ext cx="5449889" cy="3807844"/>
          </a:xfrm>
          <a:prstGeom prst="rect">
            <a:avLst/>
          </a:prstGeom>
          <a:effectLst/>
        </p:spPr>
      </p:pic>
      <p:sp>
        <p:nvSpPr>
          <p:cNvPr id="30" name="Rectangle 29">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 name="TextBox 6">
            <a:extLst>
              <a:ext uri="{FF2B5EF4-FFF2-40B4-BE49-F238E27FC236}">
                <a16:creationId xmlns:a16="http://schemas.microsoft.com/office/drawing/2014/main" id="{63439CD7-A11D-7AE8-76F9-DBCCF0D51227}"/>
              </a:ext>
            </a:extLst>
          </p:cNvPr>
          <p:cNvSpPr txBox="1"/>
          <p:nvPr/>
        </p:nvSpPr>
        <p:spPr>
          <a:xfrm>
            <a:off x="648119" y="2018676"/>
            <a:ext cx="4166509" cy="4666937"/>
          </a:xfrm>
          <a:prstGeom prst="rect">
            <a:avLst/>
          </a:prstGeom>
        </p:spPr>
        <p:txBody>
          <a:bodyPr vert="horz" lIns="91440" tIns="45720" rIns="91440" bIns="45720" rtlCol="0">
            <a:normAutofit fontScale="92500" lnSpcReduction="10000"/>
          </a:bodyPr>
          <a:lstStyle/>
          <a:p>
            <a:pPr marL="285750" indent="-285750">
              <a:spcBef>
                <a:spcPts val="1000"/>
              </a:spcBef>
              <a:buClr>
                <a:schemeClr val="bg2">
                  <a:lumMod val="40000"/>
                  <a:lumOff val="60000"/>
                </a:schemeClr>
              </a:buClr>
              <a:buSzPct val="80000"/>
              <a:buFont typeface="Wingdings 3" charset="2"/>
              <a:buChar char=""/>
            </a:pPr>
            <a:r>
              <a:rPr lang="en-US" dirty="0">
                <a:solidFill>
                  <a:srgbClr val="EBEBEB"/>
                </a:solidFill>
                <a:latin typeface="+mj-lt"/>
                <a:ea typeface="+mj-ea"/>
                <a:cs typeface="+mj-cs"/>
              </a:rPr>
              <a:t>This chart  represents the total profit generated by each product category. It helps us understands which products are contributing more to the overall business profit.</a:t>
            </a:r>
          </a:p>
          <a:p>
            <a:pPr marL="285750" indent="-285750">
              <a:spcBef>
                <a:spcPts val="1000"/>
              </a:spcBef>
              <a:buClr>
                <a:schemeClr val="bg2">
                  <a:lumMod val="40000"/>
                  <a:lumOff val="60000"/>
                </a:schemeClr>
              </a:buClr>
              <a:buSzPct val="80000"/>
              <a:buFont typeface="Wingdings 3" charset="2"/>
              <a:buChar char=""/>
            </a:pPr>
            <a:r>
              <a:rPr lang="en-US" dirty="0">
                <a:solidFill>
                  <a:srgbClr val="EBEBEB"/>
                </a:solidFill>
                <a:latin typeface="+mj-lt"/>
                <a:ea typeface="+mj-ea"/>
                <a:cs typeface="+mj-cs"/>
              </a:rPr>
              <a:t>Table and jacket show the highest profit, indicating strong performance.</a:t>
            </a:r>
          </a:p>
          <a:p>
            <a:pPr marL="285750" indent="-285750">
              <a:spcBef>
                <a:spcPts val="1000"/>
              </a:spcBef>
              <a:buClr>
                <a:schemeClr val="bg2">
                  <a:lumMod val="40000"/>
                  <a:lumOff val="60000"/>
                </a:schemeClr>
              </a:buClr>
              <a:buSzPct val="80000"/>
              <a:buFont typeface="Wingdings 3" charset="2"/>
              <a:buChar char=""/>
            </a:pPr>
            <a:r>
              <a:rPr lang="en-US" dirty="0">
                <a:solidFill>
                  <a:srgbClr val="EBEBEB"/>
                </a:solidFill>
                <a:latin typeface="+mj-lt"/>
                <a:ea typeface="+mj-ea"/>
                <a:cs typeface="+mj-cs"/>
              </a:rPr>
              <a:t>Chair, jeans, sofa have moderate profit levels.</a:t>
            </a:r>
          </a:p>
          <a:p>
            <a:pPr marL="285750" indent="-285750">
              <a:spcBef>
                <a:spcPts val="1000"/>
              </a:spcBef>
              <a:buClr>
                <a:schemeClr val="bg2">
                  <a:lumMod val="40000"/>
                  <a:lumOff val="60000"/>
                </a:schemeClr>
              </a:buClr>
              <a:buSzPct val="80000"/>
              <a:buFont typeface="Wingdings 3" charset="2"/>
              <a:buChar char=""/>
            </a:pPr>
            <a:r>
              <a:rPr lang="en-US" dirty="0">
                <a:solidFill>
                  <a:srgbClr val="EBEBEB"/>
                </a:solidFill>
                <a:latin typeface="+mj-lt"/>
                <a:ea typeface="+mj-ea"/>
                <a:cs typeface="+mj-cs"/>
              </a:rPr>
              <a:t>Headphones and tablet shows lower profit, indicating weaker performance.</a:t>
            </a:r>
          </a:p>
          <a:p>
            <a:pPr marL="285750" indent="-285750">
              <a:spcBef>
                <a:spcPts val="1000"/>
              </a:spcBef>
              <a:buClr>
                <a:schemeClr val="bg2">
                  <a:lumMod val="40000"/>
                  <a:lumOff val="60000"/>
                </a:schemeClr>
              </a:buClr>
              <a:buSzPct val="80000"/>
              <a:buFont typeface="Wingdings 3" charset="2"/>
              <a:buChar char=""/>
            </a:pPr>
            <a:r>
              <a:rPr lang="en-US" dirty="0">
                <a:solidFill>
                  <a:srgbClr val="EBEBEB"/>
                </a:solidFill>
                <a:latin typeface="+mj-lt"/>
                <a:ea typeface="+mj-ea"/>
                <a:cs typeface="+mj-cs"/>
              </a:rPr>
              <a:t>This chart clearly shows profit  varies across products, helping business maximize profit and make better decisions.</a:t>
            </a:r>
          </a:p>
          <a:p>
            <a:pPr marL="285750" indent="-285750">
              <a:spcBef>
                <a:spcPts val="1000"/>
              </a:spcBef>
              <a:buClr>
                <a:schemeClr val="bg2">
                  <a:lumMod val="40000"/>
                  <a:lumOff val="60000"/>
                </a:schemeClr>
              </a:buClr>
              <a:buSzPct val="80000"/>
              <a:buFont typeface="Wingdings 3" charset="2"/>
              <a:buChar char=""/>
            </a:pPr>
            <a:endParaRPr lang="en-US" dirty="0">
              <a:solidFill>
                <a:srgbClr val="EBEBEB"/>
              </a:solidFill>
              <a:latin typeface="+mj-lt"/>
              <a:ea typeface="+mj-ea"/>
              <a:cs typeface="+mj-cs"/>
            </a:endParaRPr>
          </a:p>
          <a:p>
            <a:pPr marL="285750" indent="-285750">
              <a:spcBef>
                <a:spcPts val="1000"/>
              </a:spcBef>
              <a:buClr>
                <a:schemeClr val="bg2">
                  <a:lumMod val="40000"/>
                  <a:lumOff val="60000"/>
                </a:schemeClr>
              </a:buClr>
              <a:buSzPct val="80000"/>
              <a:buFont typeface="Wingdings 3" charset="2"/>
              <a:buChar char=""/>
            </a:pPr>
            <a:endParaRPr lang="en-US" dirty="0">
              <a:solidFill>
                <a:srgbClr val="EBEBEB"/>
              </a:solidFill>
              <a:latin typeface="+mj-lt"/>
              <a:ea typeface="+mj-ea"/>
              <a:cs typeface="+mj-cs"/>
            </a:endParaRPr>
          </a:p>
        </p:txBody>
      </p:sp>
    </p:spTree>
    <p:extLst>
      <p:ext uri="{BB962C8B-B14F-4D97-AF65-F5344CB8AC3E}">
        <p14:creationId xmlns:p14="http://schemas.microsoft.com/office/powerpoint/2010/main" val="145622186"/>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975B11-69D6-F35E-E13F-098967FB6A6E}"/>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41FBB2CE-2CB0-6E80-826C-9326B0E5FF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4" name="Picture 13">
            <a:extLst>
              <a:ext uri="{FF2B5EF4-FFF2-40B4-BE49-F238E27FC236}">
                <a16:creationId xmlns:a16="http://schemas.microsoft.com/office/drawing/2014/main" id="{32641F44-EFE3-8C4E-9FD8-D99A15344E5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a:extLst>
              <a:ext uri="{FF2B5EF4-FFF2-40B4-BE49-F238E27FC236}">
                <a16:creationId xmlns:a16="http://schemas.microsoft.com/office/drawing/2014/main" id="{4FA2812D-22A8-6B3B-A7C3-044844B686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8" name="Picture 17">
            <a:extLst>
              <a:ext uri="{FF2B5EF4-FFF2-40B4-BE49-F238E27FC236}">
                <a16:creationId xmlns:a16="http://schemas.microsoft.com/office/drawing/2014/main" id="{5EDB19B0-1AC4-4BC3-1F68-866D39037DF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0" name="Picture 19">
            <a:extLst>
              <a:ext uri="{FF2B5EF4-FFF2-40B4-BE49-F238E27FC236}">
                <a16:creationId xmlns:a16="http://schemas.microsoft.com/office/drawing/2014/main" id="{2C681FCA-391B-AE38-DF09-269BE4FF07C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2" name="Rectangle 21">
            <a:extLst>
              <a:ext uri="{FF2B5EF4-FFF2-40B4-BE49-F238E27FC236}">
                <a16:creationId xmlns:a16="http://schemas.microsoft.com/office/drawing/2014/main" id="{AE56957A-6CD3-E353-15C2-7519AE8BE1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3">
            <a:extLst>
              <a:ext uri="{FF2B5EF4-FFF2-40B4-BE49-F238E27FC236}">
                <a16:creationId xmlns:a16="http://schemas.microsoft.com/office/drawing/2014/main" id="{AB609C96-1457-738A-AAE3-F2A0C8CEAC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66B6C15-E8B9-5596-01A5-25F8B7DFE472}"/>
              </a:ext>
            </a:extLst>
          </p:cNvPr>
          <p:cNvSpPr txBox="1"/>
          <p:nvPr/>
        </p:nvSpPr>
        <p:spPr>
          <a:xfrm>
            <a:off x="505946" y="353187"/>
            <a:ext cx="4166509" cy="1274827"/>
          </a:xfrm>
          <a:prstGeom prst="rect">
            <a:avLst/>
          </a:prstGeom>
        </p:spPr>
        <p:txBody>
          <a:bodyPr vert="horz" lIns="91440" tIns="45720" rIns="91440" bIns="45720" rtlCol="0" anchor="t">
            <a:normAutofit fontScale="92500"/>
          </a:bodyPr>
          <a:lstStyle/>
          <a:p>
            <a:pPr>
              <a:spcBef>
                <a:spcPct val="0"/>
              </a:spcBef>
              <a:spcAft>
                <a:spcPts val="600"/>
              </a:spcAft>
            </a:pPr>
            <a:r>
              <a:rPr lang="en-US" sz="3300" b="0" i="0" kern="1200" dirty="0">
                <a:solidFill>
                  <a:srgbClr val="EBEBEB"/>
                </a:solidFill>
                <a:latin typeface="+mj-lt"/>
                <a:ea typeface="+mj-ea"/>
                <a:cs typeface="+mj-cs"/>
              </a:rPr>
              <a:t>TOTAL SALES FO</a:t>
            </a:r>
            <a:r>
              <a:rPr lang="en-US" sz="3300" dirty="0">
                <a:solidFill>
                  <a:srgbClr val="EBEBEB"/>
                </a:solidFill>
                <a:latin typeface="+mj-lt"/>
                <a:ea typeface="+mj-ea"/>
                <a:cs typeface="+mj-cs"/>
              </a:rPr>
              <a:t>R EACH CATOGERIES</a:t>
            </a:r>
            <a:r>
              <a:rPr lang="en-US" sz="4200" b="0" i="0" kern="1200" dirty="0">
                <a:solidFill>
                  <a:srgbClr val="EBEBEB"/>
                </a:solidFill>
                <a:latin typeface="+mj-lt"/>
                <a:ea typeface="+mj-ea"/>
                <a:cs typeface="+mj-cs"/>
              </a:rPr>
              <a:t>:</a:t>
            </a:r>
          </a:p>
        </p:txBody>
      </p:sp>
      <p:sp>
        <p:nvSpPr>
          <p:cNvPr id="26" name="Freeform 31">
            <a:extLst>
              <a:ext uri="{FF2B5EF4-FFF2-40B4-BE49-F238E27FC236}">
                <a16:creationId xmlns:a16="http://schemas.microsoft.com/office/drawing/2014/main" id="{ECDB3C20-59EF-0AA0-C9E3-2C80F0FEB1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8" name="Freeform: Shape 27">
            <a:extLst>
              <a:ext uri="{FF2B5EF4-FFF2-40B4-BE49-F238E27FC236}">
                <a16:creationId xmlns:a16="http://schemas.microsoft.com/office/drawing/2014/main" id="{7BD39D55-EBC9-54D6-47DA-7C3005D159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IN"/>
          </a:p>
        </p:txBody>
      </p:sp>
      <p:sp>
        <p:nvSpPr>
          <p:cNvPr id="30" name="Rectangle 29">
            <a:extLst>
              <a:ext uri="{FF2B5EF4-FFF2-40B4-BE49-F238E27FC236}">
                <a16:creationId xmlns:a16="http://schemas.microsoft.com/office/drawing/2014/main" id="{4E5F29F9-3AAA-7420-0079-3B02F9722A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 name="TextBox 6">
            <a:extLst>
              <a:ext uri="{FF2B5EF4-FFF2-40B4-BE49-F238E27FC236}">
                <a16:creationId xmlns:a16="http://schemas.microsoft.com/office/drawing/2014/main" id="{DA84F478-21D4-D49D-4150-2F354F5F6578}"/>
              </a:ext>
            </a:extLst>
          </p:cNvPr>
          <p:cNvSpPr txBox="1"/>
          <p:nvPr/>
        </p:nvSpPr>
        <p:spPr>
          <a:xfrm>
            <a:off x="648119" y="2018676"/>
            <a:ext cx="4166509" cy="4666937"/>
          </a:xfrm>
          <a:prstGeom prst="rect">
            <a:avLst/>
          </a:prstGeom>
        </p:spPr>
        <p:txBody>
          <a:bodyPr vert="horz" lIns="91440" tIns="45720" rIns="91440" bIns="45720" rtlCol="0">
            <a:normAutofit fontScale="92500" lnSpcReduction="10000"/>
          </a:bodyPr>
          <a:lstStyle/>
          <a:p>
            <a:pPr marL="285750" indent="-285750">
              <a:spcBef>
                <a:spcPts val="1000"/>
              </a:spcBef>
              <a:buClr>
                <a:schemeClr val="bg2">
                  <a:lumMod val="40000"/>
                  <a:lumOff val="60000"/>
                </a:schemeClr>
              </a:buClr>
              <a:buSzPct val="80000"/>
              <a:buFont typeface="Wingdings 3" charset="2"/>
              <a:buChar char=""/>
            </a:pPr>
            <a:r>
              <a:rPr lang="en-US" dirty="0">
                <a:solidFill>
                  <a:srgbClr val="EBEBEB"/>
                </a:solidFill>
                <a:latin typeface="+mj-lt"/>
                <a:ea typeface="+mj-ea"/>
                <a:cs typeface="+mj-cs"/>
              </a:rPr>
              <a:t>This chart  shows the total sales generated by each product category. It helps compare overall performance between different categories.</a:t>
            </a:r>
          </a:p>
          <a:p>
            <a:pPr marL="285750" indent="-285750">
              <a:spcBef>
                <a:spcPts val="1000"/>
              </a:spcBef>
              <a:buClr>
                <a:schemeClr val="bg2">
                  <a:lumMod val="40000"/>
                  <a:lumOff val="60000"/>
                </a:schemeClr>
              </a:buClr>
              <a:buSzPct val="80000"/>
              <a:buFont typeface="Wingdings 3" charset="2"/>
              <a:buChar char=""/>
            </a:pPr>
            <a:r>
              <a:rPr lang="en-IN" dirty="0">
                <a:solidFill>
                  <a:srgbClr val="EBEBEB"/>
                </a:solidFill>
                <a:latin typeface="+mj-lt"/>
                <a:ea typeface="+mj-ea"/>
                <a:cs typeface="+mj-cs"/>
              </a:rPr>
              <a:t>Furniture has the highest sales ( 15,000,000)</a:t>
            </a:r>
            <a:endParaRPr lang="en-US" dirty="0">
              <a:solidFill>
                <a:srgbClr val="EBEBEB"/>
              </a:solidFill>
              <a:latin typeface="+mj-lt"/>
              <a:ea typeface="+mj-ea"/>
              <a:cs typeface="+mj-cs"/>
            </a:endParaRPr>
          </a:p>
          <a:p>
            <a:pPr marL="285750" indent="-285750">
              <a:spcBef>
                <a:spcPts val="1000"/>
              </a:spcBef>
              <a:buClr>
                <a:schemeClr val="bg2">
                  <a:lumMod val="40000"/>
                  <a:lumOff val="60000"/>
                </a:schemeClr>
              </a:buClr>
              <a:buSzPct val="80000"/>
              <a:buFont typeface="Wingdings 3" charset="2"/>
              <a:buChar char=""/>
            </a:pPr>
            <a:r>
              <a:rPr lang="en-US" dirty="0">
                <a:solidFill>
                  <a:srgbClr val="EBEBEB"/>
                </a:solidFill>
                <a:latin typeface="+mj-lt"/>
                <a:ea typeface="+mj-ea"/>
                <a:cs typeface="+mj-cs"/>
              </a:rPr>
              <a:t>, showing strong demand.</a:t>
            </a:r>
          </a:p>
          <a:p>
            <a:pPr marL="285750" indent="-285750">
              <a:spcBef>
                <a:spcPts val="1000"/>
              </a:spcBef>
              <a:buClr>
                <a:schemeClr val="bg2">
                  <a:lumMod val="40000"/>
                  <a:lumOff val="60000"/>
                </a:schemeClr>
              </a:buClr>
              <a:buSzPct val="80000"/>
              <a:buFont typeface="Wingdings 3" charset="2"/>
              <a:buChar char=""/>
            </a:pPr>
            <a:r>
              <a:rPr lang="en-US" dirty="0">
                <a:solidFill>
                  <a:srgbClr val="EBEBEB"/>
                </a:solidFill>
                <a:latin typeface="+mj-lt"/>
                <a:ea typeface="+mj-ea"/>
                <a:cs typeface="+mj-cs"/>
              </a:rPr>
              <a:t>Clothing has moderate sales (14,200,000).</a:t>
            </a:r>
          </a:p>
          <a:p>
            <a:pPr marL="285750" indent="-285750">
              <a:spcBef>
                <a:spcPts val="1000"/>
              </a:spcBef>
              <a:buClr>
                <a:schemeClr val="bg2">
                  <a:lumMod val="40000"/>
                  <a:lumOff val="60000"/>
                </a:schemeClr>
              </a:buClr>
              <a:buSzPct val="80000"/>
              <a:buFont typeface="Wingdings 3" charset="2"/>
              <a:buChar char=""/>
            </a:pPr>
            <a:r>
              <a:rPr lang="en-US" dirty="0">
                <a:solidFill>
                  <a:srgbClr val="EBEBEB"/>
                </a:solidFill>
                <a:latin typeface="+mj-lt"/>
                <a:ea typeface="+mj-ea"/>
                <a:cs typeface="+mj-cs"/>
              </a:rPr>
              <a:t>Electronics has the lowest sales    ( 14,000,000).</a:t>
            </a:r>
          </a:p>
          <a:p>
            <a:pPr marL="285750" indent="-285750">
              <a:spcBef>
                <a:spcPts val="1000"/>
              </a:spcBef>
              <a:buClr>
                <a:schemeClr val="bg2">
                  <a:lumMod val="40000"/>
                  <a:lumOff val="60000"/>
                </a:schemeClr>
              </a:buClr>
              <a:buSzPct val="80000"/>
              <a:buFont typeface="Wingdings 3" charset="2"/>
              <a:buChar char=""/>
            </a:pPr>
            <a:r>
              <a:rPr lang="en-US" dirty="0">
                <a:solidFill>
                  <a:srgbClr val="EBEBEB"/>
                </a:solidFill>
                <a:latin typeface="+mj-lt"/>
                <a:ea typeface="+mj-ea"/>
                <a:cs typeface="+mj-cs"/>
              </a:rPr>
              <a:t>This chart helps identify which category contributes most to sales, allowing business to plan strategies and improve overall </a:t>
            </a:r>
            <a:r>
              <a:rPr lang="en-US" dirty="0" err="1">
                <a:solidFill>
                  <a:srgbClr val="EBEBEB"/>
                </a:solidFill>
                <a:latin typeface="+mj-lt"/>
                <a:ea typeface="+mj-ea"/>
                <a:cs typeface="+mj-cs"/>
              </a:rPr>
              <a:t>peformance</a:t>
            </a:r>
            <a:r>
              <a:rPr lang="en-US" dirty="0">
                <a:solidFill>
                  <a:srgbClr val="EBEBEB"/>
                </a:solidFill>
                <a:latin typeface="+mj-lt"/>
                <a:ea typeface="+mj-ea"/>
                <a:cs typeface="+mj-cs"/>
              </a:rPr>
              <a:t>.</a:t>
            </a:r>
          </a:p>
          <a:p>
            <a:pPr>
              <a:spcBef>
                <a:spcPts val="1000"/>
              </a:spcBef>
              <a:buClr>
                <a:schemeClr val="bg2">
                  <a:lumMod val="40000"/>
                  <a:lumOff val="60000"/>
                </a:schemeClr>
              </a:buClr>
              <a:buSzPct val="80000"/>
            </a:pPr>
            <a:endParaRPr lang="en-US" dirty="0">
              <a:solidFill>
                <a:srgbClr val="EBEBEB"/>
              </a:solidFill>
              <a:latin typeface="+mj-lt"/>
              <a:ea typeface="+mj-ea"/>
              <a:cs typeface="+mj-cs"/>
            </a:endParaRPr>
          </a:p>
        </p:txBody>
      </p:sp>
      <p:pic>
        <p:nvPicPr>
          <p:cNvPr id="3" name="Picture 2">
            <a:extLst>
              <a:ext uri="{FF2B5EF4-FFF2-40B4-BE49-F238E27FC236}">
                <a16:creationId xmlns:a16="http://schemas.microsoft.com/office/drawing/2014/main" id="{FE7A5582-50E1-CCB7-134B-71C33978B55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55283" y="2018676"/>
            <a:ext cx="4634925" cy="3581533"/>
          </a:xfrm>
          <a:prstGeom prst="rect">
            <a:avLst/>
          </a:prstGeom>
        </p:spPr>
      </p:pic>
    </p:spTree>
    <p:extLst>
      <p:ext uri="{BB962C8B-B14F-4D97-AF65-F5344CB8AC3E}">
        <p14:creationId xmlns:p14="http://schemas.microsoft.com/office/powerpoint/2010/main" val="2599230466"/>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3AADBB-0AAC-4FA5-F5C1-301ABD64A332}"/>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F1AB73A2-0800-91DA-5606-8513194C8B2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4" name="Picture 13">
            <a:extLst>
              <a:ext uri="{FF2B5EF4-FFF2-40B4-BE49-F238E27FC236}">
                <a16:creationId xmlns:a16="http://schemas.microsoft.com/office/drawing/2014/main" id="{7DBEA466-31BF-086C-DF14-49C3C337170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a:extLst>
              <a:ext uri="{FF2B5EF4-FFF2-40B4-BE49-F238E27FC236}">
                <a16:creationId xmlns:a16="http://schemas.microsoft.com/office/drawing/2014/main" id="{B6517D3C-F42E-870C-F799-89F63FD776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8" name="Picture 17">
            <a:extLst>
              <a:ext uri="{FF2B5EF4-FFF2-40B4-BE49-F238E27FC236}">
                <a16:creationId xmlns:a16="http://schemas.microsoft.com/office/drawing/2014/main" id="{1E6F8A96-63FF-4740-4E6F-B9661814AB1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0" name="Picture 19">
            <a:extLst>
              <a:ext uri="{FF2B5EF4-FFF2-40B4-BE49-F238E27FC236}">
                <a16:creationId xmlns:a16="http://schemas.microsoft.com/office/drawing/2014/main" id="{7989B1A4-D389-9FB1-F64B-7415F79BEF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2" name="Rectangle 21">
            <a:extLst>
              <a:ext uri="{FF2B5EF4-FFF2-40B4-BE49-F238E27FC236}">
                <a16:creationId xmlns:a16="http://schemas.microsoft.com/office/drawing/2014/main" id="{179816BF-27CC-2733-A712-40E6088FA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3">
            <a:extLst>
              <a:ext uri="{FF2B5EF4-FFF2-40B4-BE49-F238E27FC236}">
                <a16:creationId xmlns:a16="http://schemas.microsoft.com/office/drawing/2014/main" id="{6BF21AD3-463D-D0BE-391E-B9EDBFEABB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1B7CFB1-3F9B-8657-6883-545C49FA9A32}"/>
              </a:ext>
            </a:extLst>
          </p:cNvPr>
          <p:cNvSpPr txBox="1"/>
          <p:nvPr/>
        </p:nvSpPr>
        <p:spPr>
          <a:xfrm>
            <a:off x="763588" y="401573"/>
            <a:ext cx="3910170" cy="1062961"/>
          </a:xfrm>
          <a:prstGeom prst="rect">
            <a:avLst/>
          </a:prstGeom>
        </p:spPr>
        <p:txBody>
          <a:bodyPr vert="horz" lIns="91440" tIns="45720" rIns="91440" bIns="45720" rtlCol="0" anchor="t">
            <a:normAutofit fontScale="77500" lnSpcReduction="20000"/>
          </a:bodyPr>
          <a:lstStyle/>
          <a:p>
            <a:pPr>
              <a:spcBef>
                <a:spcPct val="0"/>
              </a:spcBef>
              <a:spcAft>
                <a:spcPts val="600"/>
              </a:spcAft>
            </a:pPr>
            <a:r>
              <a:rPr lang="en-US" sz="4200" dirty="0">
                <a:solidFill>
                  <a:srgbClr val="EBEBEB"/>
                </a:solidFill>
                <a:latin typeface="+mj-lt"/>
                <a:ea typeface="+mj-ea"/>
                <a:cs typeface="+mj-cs"/>
              </a:rPr>
              <a:t>AVERAGE RATING PERPRODUCT </a:t>
            </a:r>
            <a:r>
              <a:rPr lang="en-US" sz="4200" b="0" i="0" kern="1200" dirty="0">
                <a:solidFill>
                  <a:srgbClr val="EBEBEB"/>
                </a:solidFill>
                <a:latin typeface="+mj-lt"/>
                <a:ea typeface="+mj-ea"/>
                <a:cs typeface="+mj-cs"/>
              </a:rPr>
              <a:t>:</a:t>
            </a:r>
          </a:p>
        </p:txBody>
      </p:sp>
      <p:sp>
        <p:nvSpPr>
          <p:cNvPr id="26" name="Freeform 31">
            <a:extLst>
              <a:ext uri="{FF2B5EF4-FFF2-40B4-BE49-F238E27FC236}">
                <a16:creationId xmlns:a16="http://schemas.microsoft.com/office/drawing/2014/main" id="{F1FCBA94-D9E9-CDBA-479C-9AEAEAF99B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8" name="Freeform: Shape 27">
            <a:extLst>
              <a:ext uri="{FF2B5EF4-FFF2-40B4-BE49-F238E27FC236}">
                <a16:creationId xmlns:a16="http://schemas.microsoft.com/office/drawing/2014/main" id="{9EDD6453-A8FF-7CC1-DC8D-C93B6CCCE1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IN"/>
          </a:p>
        </p:txBody>
      </p:sp>
      <p:sp>
        <p:nvSpPr>
          <p:cNvPr id="30" name="Rectangle 29">
            <a:extLst>
              <a:ext uri="{FF2B5EF4-FFF2-40B4-BE49-F238E27FC236}">
                <a16:creationId xmlns:a16="http://schemas.microsoft.com/office/drawing/2014/main" id="{DA52F0F1-CAD1-3643-8EF2-EFB8AA54C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 name="TextBox 6">
            <a:extLst>
              <a:ext uri="{FF2B5EF4-FFF2-40B4-BE49-F238E27FC236}">
                <a16:creationId xmlns:a16="http://schemas.microsoft.com/office/drawing/2014/main" id="{EBC4C874-664D-868B-7C46-3DF2F3A207A6}"/>
              </a:ext>
            </a:extLst>
          </p:cNvPr>
          <p:cNvSpPr txBox="1"/>
          <p:nvPr/>
        </p:nvSpPr>
        <p:spPr>
          <a:xfrm>
            <a:off x="573952" y="1810063"/>
            <a:ext cx="4166509" cy="4666937"/>
          </a:xfrm>
          <a:prstGeom prst="rect">
            <a:avLst/>
          </a:prstGeom>
        </p:spPr>
        <p:txBody>
          <a:bodyPr vert="horz" lIns="91440" tIns="45720" rIns="91440" bIns="45720" rtlCol="0">
            <a:normAutofit/>
          </a:bodyPr>
          <a:lstStyle/>
          <a:p>
            <a:pPr marL="285750" indent="-285750">
              <a:spcBef>
                <a:spcPts val="1000"/>
              </a:spcBef>
              <a:buClr>
                <a:schemeClr val="bg2">
                  <a:lumMod val="40000"/>
                  <a:lumOff val="60000"/>
                </a:schemeClr>
              </a:buClr>
              <a:buSzPct val="80000"/>
              <a:buFont typeface="Wingdings 3" charset="2"/>
              <a:buChar char=""/>
            </a:pPr>
            <a:r>
              <a:rPr lang="en-US" dirty="0">
                <a:solidFill>
                  <a:srgbClr val="EBEBEB"/>
                </a:solidFill>
                <a:latin typeface="+mj-lt"/>
                <a:ea typeface="+mj-ea"/>
                <a:cs typeface="+mj-cs"/>
              </a:rPr>
              <a:t>This chart  </a:t>
            </a:r>
            <a:r>
              <a:rPr lang="en-IN" dirty="0">
                <a:solidFill>
                  <a:srgbClr val="EBEBEB"/>
                </a:solidFill>
                <a:latin typeface="+mj-lt"/>
                <a:ea typeface="+mj-ea"/>
                <a:cs typeface="+mj-cs"/>
              </a:rPr>
              <a:t>shows the average customer rating for each product, helping us understand customer satisfaction levels.</a:t>
            </a:r>
          </a:p>
          <a:p>
            <a:pPr marL="285750" indent="-285750">
              <a:spcBef>
                <a:spcPts val="1000"/>
              </a:spcBef>
              <a:buClr>
                <a:schemeClr val="bg2">
                  <a:lumMod val="40000"/>
                  <a:lumOff val="60000"/>
                </a:schemeClr>
              </a:buClr>
              <a:buSzPct val="80000"/>
              <a:buFont typeface="Wingdings 3" charset="2"/>
              <a:buChar char=""/>
            </a:pPr>
            <a:r>
              <a:rPr lang="en-US" dirty="0">
                <a:solidFill>
                  <a:srgbClr val="EBEBEB"/>
                </a:solidFill>
                <a:latin typeface="+mj-lt"/>
                <a:ea typeface="+mj-ea"/>
                <a:cs typeface="+mj-cs"/>
              </a:rPr>
              <a:t>Products with higher ratings are well accepted by customers.</a:t>
            </a:r>
          </a:p>
          <a:p>
            <a:pPr marL="285750" indent="-285750">
              <a:spcBef>
                <a:spcPts val="1000"/>
              </a:spcBef>
              <a:buClr>
                <a:schemeClr val="bg2">
                  <a:lumMod val="40000"/>
                  <a:lumOff val="60000"/>
                </a:schemeClr>
              </a:buClr>
              <a:buSzPct val="80000"/>
              <a:buFont typeface="Wingdings 3" charset="2"/>
              <a:buChar char=""/>
            </a:pPr>
            <a:r>
              <a:rPr lang="en-US" dirty="0">
                <a:solidFill>
                  <a:srgbClr val="EBEBEB"/>
                </a:solidFill>
                <a:latin typeface="+mj-lt"/>
                <a:ea typeface="+mj-ea"/>
                <a:cs typeface="+mj-cs"/>
              </a:rPr>
              <a:t>Lower rated products may have issues like quality, pricing, or usability.</a:t>
            </a:r>
          </a:p>
          <a:p>
            <a:pPr marL="285750" indent="-285750">
              <a:spcBef>
                <a:spcPts val="1000"/>
              </a:spcBef>
              <a:buClr>
                <a:schemeClr val="bg2">
                  <a:lumMod val="40000"/>
                  <a:lumOff val="60000"/>
                </a:schemeClr>
              </a:buClr>
              <a:buSzPct val="80000"/>
              <a:buFont typeface="Wingdings 3" charset="2"/>
              <a:buChar char=""/>
            </a:pPr>
            <a:r>
              <a:rPr lang="en-US" dirty="0">
                <a:solidFill>
                  <a:srgbClr val="EBEBEB"/>
                </a:solidFill>
                <a:latin typeface="+mj-lt"/>
                <a:ea typeface="+mj-ea"/>
                <a:cs typeface="+mj-cs"/>
              </a:rPr>
              <a:t>Overall ratings  are around 3 to 3.5, showing moderate satisfaction.</a:t>
            </a:r>
          </a:p>
          <a:p>
            <a:pPr marL="285750" indent="-285750">
              <a:spcBef>
                <a:spcPts val="1000"/>
              </a:spcBef>
              <a:buClr>
                <a:schemeClr val="bg2">
                  <a:lumMod val="40000"/>
                  <a:lumOff val="60000"/>
                </a:schemeClr>
              </a:buClr>
              <a:buSzPct val="80000"/>
              <a:buFont typeface="Wingdings 3" charset="2"/>
              <a:buChar char=""/>
            </a:pPr>
            <a:endParaRPr lang="en-US" dirty="0">
              <a:solidFill>
                <a:srgbClr val="EBEBEB"/>
              </a:solidFill>
              <a:latin typeface="+mj-lt"/>
              <a:ea typeface="+mj-ea"/>
              <a:cs typeface="+mj-cs"/>
            </a:endParaRPr>
          </a:p>
          <a:p>
            <a:pPr marL="285750" indent="-285750">
              <a:spcBef>
                <a:spcPts val="1000"/>
              </a:spcBef>
              <a:buClr>
                <a:schemeClr val="bg2">
                  <a:lumMod val="40000"/>
                  <a:lumOff val="60000"/>
                </a:schemeClr>
              </a:buClr>
              <a:buSzPct val="80000"/>
              <a:buFont typeface="Wingdings 3" charset="2"/>
              <a:buChar char=""/>
            </a:pPr>
            <a:endParaRPr lang="en-US" dirty="0">
              <a:solidFill>
                <a:srgbClr val="EBEBEB"/>
              </a:solidFill>
              <a:latin typeface="+mj-lt"/>
              <a:ea typeface="+mj-ea"/>
              <a:cs typeface="+mj-cs"/>
            </a:endParaRPr>
          </a:p>
          <a:p>
            <a:pPr>
              <a:spcBef>
                <a:spcPts val="1000"/>
              </a:spcBef>
              <a:buClr>
                <a:schemeClr val="bg2">
                  <a:lumMod val="40000"/>
                  <a:lumOff val="60000"/>
                </a:schemeClr>
              </a:buClr>
              <a:buSzPct val="80000"/>
            </a:pPr>
            <a:endParaRPr lang="en-US" dirty="0">
              <a:solidFill>
                <a:srgbClr val="EBEBEB"/>
              </a:solidFill>
              <a:latin typeface="+mj-lt"/>
              <a:ea typeface="+mj-ea"/>
              <a:cs typeface="+mj-cs"/>
            </a:endParaRPr>
          </a:p>
        </p:txBody>
      </p:sp>
      <p:pic>
        <p:nvPicPr>
          <p:cNvPr id="4" name="Picture 3">
            <a:extLst>
              <a:ext uri="{FF2B5EF4-FFF2-40B4-BE49-F238E27FC236}">
                <a16:creationId xmlns:a16="http://schemas.microsoft.com/office/drawing/2014/main" id="{7E494182-A98E-2DE3-AE44-BDFABD82BEF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42014" y="1751007"/>
            <a:ext cx="4983337" cy="3506793"/>
          </a:xfrm>
          <a:prstGeom prst="rect">
            <a:avLst/>
          </a:prstGeom>
        </p:spPr>
      </p:pic>
    </p:spTree>
    <p:extLst>
      <p:ext uri="{BB962C8B-B14F-4D97-AF65-F5344CB8AC3E}">
        <p14:creationId xmlns:p14="http://schemas.microsoft.com/office/powerpoint/2010/main" val="2502473298"/>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1DCA7E-33CA-6C95-4862-7E2D77FFBE9D}"/>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34101C42-4E82-0F42-8A02-89ACD74708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4" name="Picture 13">
            <a:extLst>
              <a:ext uri="{FF2B5EF4-FFF2-40B4-BE49-F238E27FC236}">
                <a16:creationId xmlns:a16="http://schemas.microsoft.com/office/drawing/2014/main" id="{5228C366-297B-5432-662A-8C97D9D581C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a:extLst>
              <a:ext uri="{FF2B5EF4-FFF2-40B4-BE49-F238E27FC236}">
                <a16:creationId xmlns:a16="http://schemas.microsoft.com/office/drawing/2014/main" id="{1297AD91-9120-EBA7-F534-72DCB75B8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8" name="Picture 17">
            <a:extLst>
              <a:ext uri="{FF2B5EF4-FFF2-40B4-BE49-F238E27FC236}">
                <a16:creationId xmlns:a16="http://schemas.microsoft.com/office/drawing/2014/main" id="{1E9921E0-B517-1D90-A492-69F1F9BEAEF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0" name="Picture 19">
            <a:extLst>
              <a:ext uri="{FF2B5EF4-FFF2-40B4-BE49-F238E27FC236}">
                <a16:creationId xmlns:a16="http://schemas.microsoft.com/office/drawing/2014/main" id="{B1B88A11-B8F7-A649-BEEF-6750E1CEA8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2" name="Rectangle 21">
            <a:extLst>
              <a:ext uri="{FF2B5EF4-FFF2-40B4-BE49-F238E27FC236}">
                <a16:creationId xmlns:a16="http://schemas.microsoft.com/office/drawing/2014/main" id="{3A55EB03-2DE6-E9C8-7679-85544A6CED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3">
            <a:extLst>
              <a:ext uri="{FF2B5EF4-FFF2-40B4-BE49-F238E27FC236}">
                <a16:creationId xmlns:a16="http://schemas.microsoft.com/office/drawing/2014/main" id="{F811AFE0-FFE4-ACAA-A215-47957C177F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D9BA739-1FC0-A89F-3D81-930236DFCFE2}"/>
              </a:ext>
            </a:extLst>
          </p:cNvPr>
          <p:cNvSpPr txBox="1"/>
          <p:nvPr/>
        </p:nvSpPr>
        <p:spPr>
          <a:xfrm>
            <a:off x="615173" y="611435"/>
            <a:ext cx="3976874" cy="1198627"/>
          </a:xfrm>
          <a:prstGeom prst="rect">
            <a:avLst/>
          </a:prstGeom>
        </p:spPr>
        <p:txBody>
          <a:bodyPr vert="horz" lIns="91440" tIns="45720" rIns="91440" bIns="45720" rtlCol="0" anchor="t">
            <a:normAutofit fontScale="47500" lnSpcReduction="20000"/>
          </a:bodyPr>
          <a:lstStyle/>
          <a:p>
            <a:pPr>
              <a:spcBef>
                <a:spcPct val="0"/>
              </a:spcBef>
              <a:spcAft>
                <a:spcPts val="600"/>
              </a:spcAft>
            </a:pPr>
            <a:r>
              <a:rPr lang="en-US" sz="5800" dirty="0">
                <a:solidFill>
                  <a:srgbClr val="EBEBEB"/>
                </a:solidFill>
                <a:latin typeface="+mj-lt"/>
                <a:ea typeface="+mj-ea"/>
                <a:cs typeface="+mj-cs"/>
              </a:rPr>
              <a:t>AMOUNT  RECEIVED BY PAYMENT METOD </a:t>
            </a:r>
            <a:r>
              <a:rPr lang="en-US" sz="4200" b="0" i="0" kern="1200" dirty="0">
                <a:solidFill>
                  <a:srgbClr val="EBEBEB"/>
                </a:solidFill>
                <a:latin typeface="+mj-lt"/>
                <a:ea typeface="+mj-ea"/>
                <a:cs typeface="+mj-cs"/>
              </a:rPr>
              <a:t>:</a:t>
            </a:r>
          </a:p>
        </p:txBody>
      </p:sp>
      <p:sp>
        <p:nvSpPr>
          <p:cNvPr id="26" name="Freeform 31">
            <a:extLst>
              <a:ext uri="{FF2B5EF4-FFF2-40B4-BE49-F238E27FC236}">
                <a16:creationId xmlns:a16="http://schemas.microsoft.com/office/drawing/2014/main" id="{BC78B482-8AD4-80B4-BC84-A4161C6DE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8" name="Freeform: Shape 27">
            <a:extLst>
              <a:ext uri="{FF2B5EF4-FFF2-40B4-BE49-F238E27FC236}">
                <a16:creationId xmlns:a16="http://schemas.microsoft.com/office/drawing/2014/main" id="{35C4E4DC-70CB-0E4C-B21A-8E66CFCA36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IN"/>
          </a:p>
        </p:txBody>
      </p:sp>
      <p:sp>
        <p:nvSpPr>
          <p:cNvPr id="30" name="Rectangle 29">
            <a:extLst>
              <a:ext uri="{FF2B5EF4-FFF2-40B4-BE49-F238E27FC236}">
                <a16:creationId xmlns:a16="http://schemas.microsoft.com/office/drawing/2014/main" id="{DC3CD4CC-1D71-DA49-B36B-9894F6DCC8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 name="TextBox 6">
            <a:extLst>
              <a:ext uri="{FF2B5EF4-FFF2-40B4-BE49-F238E27FC236}">
                <a16:creationId xmlns:a16="http://schemas.microsoft.com/office/drawing/2014/main" id="{91DD3C37-5BA2-A28F-3DC8-CF77BC2748FD}"/>
              </a:ext>
            </a:extLst>
          </p:cNvPr>
          <p:cNvSpPr txBox="1"/>
          <p:nvPr/>
        </p:nvSpPr>
        <p:spPr>
          <a:xfrm>
            <a:off x="573952" y="1810063"/>
            <a:ext cx="4166509" cy="4666937"/>
          </a:xfrm>
          <a:prstGeom prst="rect">
            <a:avLst/>
          </a:prstGeom>
        </p:spPr>
        <p:txBody>
          <a:bodyPr vert="horz" lIns="91440" tIns="45720" rIns="91440" bIns="45720" rtlCol="0">
            <a:normAutofit fontScale="92500" lnSpcReduction="10000"/>
          </a:bodyPr>
          <a:lstStyle/>
          <a:p>
            <a:pPr marL="285750" indent="-285750">
              <a:spcBef>
                <a:spcPts val="1000"/>
              </a:spcBef>
              <a:buClr>
                <a:schemeClr val="bg2">
                  <a:lumMod val="40000"/>
                  <a:lumOff val="60000"/>
                </a:schemeClr>
              </a:buClr>
              <a:buSzPct val="80000"/>
              <a:buFont typeface="Wingdings 3" charset="2"/>
              <a:buChar char=""/>
            </a:pPr>
            <a:r>
              <a:rPr lang="en-US" dirty="0">
                <a:solidFill>
                  <a:srgbClr val="EBEBEB"/>
                </a:solidFill>
                <a:latin typeface="+mj-lt"/>
                <a:ea typeface="+mj-ea"/>
                <a:cs typeface="+mj-cs"/>
              </a:rPr>
              <a:t>The pie chart represents the distribution of total revenue received through different payment method</a:t>
            </a:r>
          </a:p>
          <a:p>
            <a:pPr marL="285750" indent="-285750">
              <a:spcBef>
                <a:spcPts val="1000"/>
              </a:spcBef>
              <a:buClr>
                <a:schemeClr val="bg2">
                  <a:lumMod val="40000"/>
                  <a:lumOff val="60000"/>
                </a:schemeClr>
              </a:buClr>
              <a:buSzPct val="80000"/>
              <a:buFont typeface="Wingdings 3" charset="2"/>
              <a:buChar char=""/>
            </a:pPr>
            <a:r>
              <a:rPr lang="en-US" dirty="0">
                <a:solidFill>
                  <a:srgbClr val="EBEBEB"/>
                </a:solidFill>
                <a:latin typeface="+mj-lt"/>
                <a:ea typeface="+mj-ea"/>
                <a:cs typeface="+mj-cs"/>
              </a:rPr>
              <a:t>UPI has the highest contribution with </a:t>
            </a:r>
            <a:r>
              <a:rPr lang="en-IN" b="1" dirty="0"/>
              <a:t>₹</a:t>
            </a:r>
            <a:r>
              <a:rPr lang="en-IN" b="1" dirty="0">
                <a:solidFill>
                  <a:schemeClr val="bg1"/>
                </a:solidFill>
              </a:rPr>
              <a:t>11,736,955.05</a:t>
            </a:r>
            <a:r>
              <a:rPr lang="en-IN" dirty="0">
                <a:solidFill>
                  <a:schemeClr val="bg1"/>
                </a:solidFill>
              </a:rPr>
              <a:t>,, making it the most preferred payment method.</a:t>
            </a:r>
          </a:p>
          <a:p>
            <a:pPr marL="285750" indent="-285750">
              <a:spcBef>
                <a:spcPts val="1000"/>
              </a:spcBef>
              <a:buClr>
                <a:schemeClr val="bg2">
                  <a:lumMod val="40000"/>
                  <a:lumOff val="60000"/>
                </a:schemeClr>
              </a:buClr>
              <a:buSzPct val="80000"/>
              <a:buFont typeface="Wingdings 3" charset="2"/>
              <a:buChar char=""/>
            </a:pPr>
            <a:r>
              <a:rPr lang="en-IN" dirty="0">
                <a:solidFill>
                  <a:schemeClr val="bg1"/>
                </a:solidFill>
                <a:latin typeface="+mj-lt"/>
                <a:ea typeface="+mj-ea"/>
                <a:cs typeface="+mj-cs"/>
              </a:rPr>
              <a:t>Cash follows with </a:t>
            </a:r>
            <a:r>
              <a:rPr lang="en-IN" dirty="0"/>
              <a:t>₹</a:t>
            </a:r>
            <a:r>
              <a:rPr lang="en-IN" b="1" dirty="0">
                <a:solidFill>
                  <a:schemeClr val="bg1"/>
                </a:solidFill>
              </a:rPr>
              <a:t>12,091,728.17</a:t>
            </a:r>
            <a:r>
              <a:rPr lang="en-IN" dirty="0">
                <a:solidFill>
                  <a:schemeClr val="bg1"/>
                </a:solidFill>
              </a:rPr>
              <a:t>, showing that traditional payment is still widely used.</a:t>
            </a:r>
          </a:p>
          <a:p>
            <a:pPr marL="285750" indent="-285750">
              <a:spcBef>
                <a:spcPts val="1000"/>
              </a:spcBef>
              <a:buClr>
                <a:schemeClr val="bg2">
                  <a:lumMod val="40000"/>
                  <a:lumOff val="60000"/>
                </a:schemeClr>
              </a:buClr>
              <a:buSzPct val="80000"/>
              <a:buFont typeface="Wingdings 3" charset="2"/>
              <a:buChar char=""/>
            </a:pPr>
            <a:r>
              <a:rPr lang="en-IN" dirty="0">
                <a:solidFill>
                  <a:schemeClr val="bg1"/>
                </a:solidFill>
                <a:latin typeface="+mj-lt"/>
                <a:ea typeface="+mj-ea"/>
                <a:cs typeface="+mj-cs"/>
              </a:rPr>
              <a:t>Credit card payments account for </a:t>
            </a:r>
            <a:r>
              <a:rPr lang="en-IN" b="1" dirty="0"/>
              <a:t>₹</a:t>
            </a:r>
            <a:r>
              <a:rPr lang="en-IN" b="1" dirty="0">
                <a:solidFill>
                  <a:schemeClr val="bg1"/>
                </a:solidFill>
              </a:rPr>
              <a:t>10,882,030.40</a:t>
            </a:r>
            <a:r>
              <a:rPr lang="en-IN" dirty="0">
                <a:solidFill>
                  <a:schemeClr val="bg1"/>
                </a:solidFill>
              </a:rPr>
              <a:t>, indicating moderate usage among customers.</a:t>
            </a:r>
          </a:p>
          <a:p>
            <a:pPr marL="285750" indent="-285750">
              <a:spcBef>
                <a:spcPts val="1000"/>
              </a:spcBef>
              <a:buClr>
                <a:schemeClr val="bg2">
                  <a:lumMod val="40000"/>
                  <a:lumOff val="60000"/>
                </a:schemeClr>
              </a:buClr>
              <a:buSzPct val="80000"/>
              <a:buFont typeface="Wingdings 3" charset="2"/>
              <a:buChar char=""/>
            </a:pPr>
            <a:r>
              <a:rPr lang="en-IN" dirty="0">
                <a:solidFill>
                  <a:schemeClr val="bg1"/>
                </a:solidFill>
                <a:latin typeface="+mj-lt"/>
                <a:ea typeface="+mj-ea"/>
                <a:cs typeface="+mj-cs"/>
              </a:rPr>
              <a:t>Debit card has the lowest contribution At </a:t>
            </a:r>
            <a:r>
              <a:rPr lang="en-IN" b="1" dirty="0"/>
              <a:t>₹</a:t>
            </a:r>
            <a:r>
              <a:rPr lang="en-IN" b="1" dirty="0">
                <a:solidFill>
                  <a:schemeClr val="bg1"/>
                </a:solidFill>
              </a:rPr>
              <a:t>8,662,271.38 </a:t>
            </a:r>
            <a:r>
              <a:rPr lang="en-US" dirty="0">
                <a:solidFill>
                  <a:srgbClr val="EBEBEB"/>
                </a:solidFill>
                <a:latin typeface="+mj-lt"/>
                <a:ea typeface="+mj-ea"/>
                <a:cs typeface="+mj-cs"/>
              </a:rPr>
              <a:t>making it the least used option.</a:t>
            </a:r>
          </a:p>
          <a:p>
            <a:pPr>
              <a:spcBef>
                <a:spcPts val="1000"/>
              </a:spcBef>
              <a:buClr>
                <a:schemeClr val="bg2">
                  <a:lumMod val="40000"/>
                  <a:lumOff val="60000"/>
                </a:schemeClr>
              </a:buClr>
              <a:buSzPct val="80000"/>
            </a:pPr>
            <a:endParaRPr lang="en-US" dirty="0">
              <a:solidFill>
                <a:srgbClr val="EBEBEB"/>
              </a:solidFill>
              <a:latin typeface="+mj-lt"/>
              <a:ea typeface="+mj-ea"/>
              <a:cs typeface="+mj-cs"/>
            </a:endParaRPr>
          </a:p>
        </p:txBody>
      </p:sp>
      <p:pic>
        <p:nvPicPr>
          <p:cNvPr id="3" name="Picture 2">
            <a:extLst>
              <a:ext uri="{FF2B5EF4-FFF2-40B4-BE49-F238E27FC236}">
                <a16:creationId xmlns:a16="http://schemas.microsoft.com/office/drawing/2014/main" id="{CB712765-C738-CD8C-B430-663D2A57319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36146" y="2130321"/>
            <a:ext cx="5054184" cy="3546579"/>
          </a:xfrm>
          <a:prstGeom prst="rect">
            <a:avLst/>
          </a:prstGeom>
        </p:spPr>
      </p:pic>
    </p:spTree>
    <p:extLst>
      <p:ext uri="{BB962C8B-B14F-4D97-AF65-F5344CB8AC3E}">
        <p14:creationId xmlns:p14="http://schemas.microsoft.com/office/powerpoint/2010/main" val="1775819840"/>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896E9A-0001-7B80-872F-7908E24FA88D}"/>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385BDB2F-1A8B-F983-A833-4EDBB7CD128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4" name="Picture 13">
            <a:extLst>
              <a:ext uri="{FF2B5EF4-FFF2-40B4-BE49-F238E27FC236}">
                <a16:creationId xmlns:a16="http://schemas.microsoft.com/office/drawing/2014/main" id="{746DD102-004C-261D-3DF0-ABB1C134C8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a:extLst>
              <a:ext uri="{FF2B5EF4-FFF2-40B4-BE49-F238E27FC236}">
                <a16:creationId xmlns:a16="http://schemas.microsoft.com/office/drawing/2014/main" id="{F4E9778B-8152-938A-BA1E-765C766D4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8" name="Picture 17">
            <a:extLst>
              <a:ext uri="{FF2B5EF4-FFF2-40B4-BE49-F238E27FC236}">
                <a16:creationId xmlns:a16="http://schemas.microsoft.com/office/drawing/2014/main" id="{25DE907C-6D17-6B78-CFBA-DF186A7F5E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0" name="Picture 19">
            <a:extLst>
              <a:ext uri="{FF2B5EF4-FFF2-40B4-BE49-F238E27FC236}">
                <a16:creationId xmlns:a16="http://schemas.microsoft.com/office/drawing/2014/main" id="{36D09158-4A4F-7FC2-5D44-DCA2973107D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2" name="Rectangle 21">
            <a:extLst>
              <a:ext uri="{FF2B5EF4-FFF2-40B4-BE49-F238E27FC236}">
                <a16:creationId xmlns:a16="http://schemas.microsoft.com/office/drawing/2014/main" id="{A3223DCA-3EA3-54C8-2598-E800E2C1EC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3">
            <a:extLst>
              <a:ext uri="{FF2B5EF4-FFF2-40B4-BE49-F238E27FC236}">
                <a16:creationId xmlns:a16="http://schemas.microsoft.com/office/drawing/2014/main" id="{4B341C3D-A9F9-030E-7C6C-B878B9FFB9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5C2671A-7CEE-E122-2CD7-0B354293DBF4}"/>
              </a:ext>
            </a:extLst>
          </p:cNvPr>
          <p:cNvSpPr txBox="1"/>
          <p:nvPr/>
        </p:nvSpPr>
        <p:spPr>
          <a:xfrm>
            <a:off x="615173" y="611435"/>
            <a:ext cx="3976874" cy="1198627"/>
          </a:xfrm>
          <a:prstGeom prst="rect">
            <a:avLst/>
          </a:prstGeom>
        </p:spPr>
        <p:txBody>
          <a:bodyPr vert="horz" lIns="91440" tIns="45720" rIns="91440" bIns="45720" rtlCol="0" anchor="t">
            <a:normAutofit fontScale="77500" lnSpcReduction="20000"/>
          </a:bodyPr>
          <a:lstStyle/>
          <a:p>
            <a:pPr>
              <a:spcBef>
                <a:spcPct val="0"/>
              </a:spcBef>
              <a:spcAft>
                <a:spcPts val="600"/>
              </a:spcAft>
            </a:pPr>
            <a:r>
              <a:rPr lang="en-US" sz="5800" dirty="0">
                <a:solidFill>
                  <a:srgbClr val="EBEBEB"/>
                </a:solidFill>
                <a:latin typeface="+mj-lt"/>
                <a:ea typeface="+mj-ea"/>
                <a:cs typeface="+mj-cs"/>
              </a:rPr>
              <a:t>REGION WISE SALES </a:t>
            </a:r>
            <a:r>
              <a:rPr lang="en-US" sz="4200" b="0" i="0" kern="1200" dirty="0">
                <a:solidFill>
                  <a:srgbClr val="EBEBEB"/>
                </a:solidFill>
                <a:latin typeface="+mj-lt"/>
                <a:ea typeface="+mj-ea"/>
                <a:cs typeface="+mj-cs"/>
              </a:rPr>
              <a:t>:</a:t>
            </a:r>
          </a:p>
        </p:txBody>
      </p:sp>
      <p:sp>
        <p:nvSpPr>
          <p:cNvPr id="26" name="Freeform 31">
            <a:extLst>
              <a:ext uri="{FF2B5EF4-FFF2-40B4-BE49-F238E27FC236}">
                <a16:creationId xmlns:a16="http://schemas.microsoft.com/office/drawing/2014/main" id="{DB6B7AEF-9900-3BD9-3711-2FA7358409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8" name="Freeform: Shape 27">
            <a:extLst>
              <a:ext uri="{FF2B5EF4-FFF2-40B4-BE49-F238E27FC236}">
                <a16:creationId xmlns:a16="http://schemas.microsoft.com/office/drawing/2014/main" id="{8183D353-6C81-15B9-A111-7DB64DAFE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IN"/>
          </a:p>
        </p:txBody>
      </p:sp>
      <p:sp>
        <p:nvSpPr>
          <p:cNvPr id="30" name="Rectangle 29">
            <a:extLst>
              <a:ext uri="{FF2B5EF4-FFF2-40B4-BE49-F238E27FC236}">
                <a16:creationId xmlns:a16="http://schemas.microsoft.com/office/drawing/2014/main" id="{C28BAE8F-BFEB-602E-7798-E569B59B40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 name="TextBox 6">
            <a:extLst>
              <a:ext uri="{FF2B5EF4-FFF2-40B4-BE49-F238E27FC236}">
                <a16:creationId xmlns:a16="http://schemas.microsoft.com/office/drawing/2014/main" id="{DD8F9BE1-420F-6E2C-F257-14151BCB1D88}"/>
              </a:ext>
            </a:extLst>
          </p:cNvPr>
          <p:cNvSpPr txBox="1"/>
          <p:nvPr/>
        </p:nvSpPr>
        <p:spPr>
          <a:xfrm>
            <a:off x="573952" y="1810063"/>
            <a:ext cx="4166509" cy="4666937"/>
          </a:xfrm>
          <a:prstGeom prst="rect">
            <a:avLst/>
          </a:prstGeom>
        </p:spPr>
        <p:txBody>
          <a:bodyPr vert="horz" lIns="91440" tIns="45720" rIns="91440" bIns="45720" rtlCol="0">
            <a:normAutofit/>
          </a:bodyPr>
          <a:lstStyle/>
          <a:p>
            <a:pPr marL="285750" indent="-285750">
              <a:spcBef>
                <a:spcPts val="1000"/>
              </a:spcBef>
              <a:buClr>
                <a:schemeClr val="bg2">
                  <a:lumMod val="40000"/>
                  <a:lumOff val="60000"/>
                </a:schemeClr>
              </a:buClr>
              <a:buSzPct val="80000"/>
              <a:buFont typeface="Wingdings 3" charset="2"/>
              <a:buChar char=""/>
            </a:pPr>
            <a:r>
              <a:rPr lang="en-US" dirty="0">
                <a:solidFill>
                  <a:srgbClr val="EBEBEB"/>
                </a:solidFill>
                <a:latin typeface="+mj-lt"/>
                <a:ea typeface="+mj-ea"/>
                <a:cs typeface="+mj-cs"/>
              </a:rPr>
              <a:t>This pie chart shows the total sales distribution across different regions:  east, north, south, west.</a:t>
            </a:r>
          </a:p>
          <a:p>
            <a:pPr marL="285750" indent="-285750">
              <a:spcBef>
                <a:spcPts val="1000"/>
              </a:spcBef>
              <a:buClr>
                <a:schemeClr val="bg2">
                  <a:lumMod val="40000"/>
                  <a:lumOff val="60000"/>
                </a:schemeClr>
              </a:buClr>
              <a:buSzPct val="80000"/>
              <a:buFont typeface="Wingdings 3" charset="2"/>
              <a:buChar char=""/>
            </a:pPr>
            <a:r>
              <a:rPr lang="en-US" dirty="0">
                <a:solidFill>
                  <a:srgbClr val="EBEBEB"/>
                </a:solidFill>
                <a:latin typeface="+mj-lt"/>
                <a:ea typeface="+mj-ea"/>
                <a:cs typeface="+mj-cs"/>
              </a:rPr>
              <a:t>The west and north regions are the major revenue drivers.</a:t>
            </a:r>
          </a:p>
          <a:p>
            <a:pPr marL="285750" indent="-285750">
              <a:spcBef>
                <a:spcPts val="1000"/>
              </a:spcBef>
              <a:buClr>
                <a:schemeClr val="bg2">
                  <a:lumMod val="40000"/>
                  <a:lumOff val="60000"/>
                </a:schemeClr>
              </a:buClr>
              <a:buSzPct val="80000"/>
              <a:buFont typeface="Wingdings 3" charset="2"/>
              <a:buChar char=""/>
            </a:pPr>
            <a:r>
              <a:rPr lang="en-US" dirty="0">
                <a:solidFill>
                  <a:srgbClr val="EBEBEB"/>
                </a:solidFill>
                <a:latin typeface="+mj-lt"/>
                <a:ea typeface="+mj-ea"/>
                <a:cs typeface="+mj-cs"/>
              </a:rPr>
              <a:t>The east region needs improvement and may require better marketing or sales strategies.</a:t>
            </a:r>
          </a:p>
          <a:p>
            <a:pPr marL="285750" indent="-285750">
              <a:spcBef>
                <a:spcPts val="1000"/>
              </a:spcBef>
              <a:buClr>
                <a:schemeClr val="bg2">
                  <a:lumMod val="40000"/>
                  <a:lumOff val="60000"/>
                </a:schemeClr>
              </a:buClr>
              <a:buSzPct val="80000"/>
              <a:buFont typeface="Wingdings 3" charset="2"/>
              <a:buChar char=""/>
            </a:pPr>
            <a:r>
              <a:rPr lang="en-US" dirty="0">
                <a:solidFill>
                  <a:srgbClr val="EBEBEB"/>
                </a:solidFill>
                <a:latin typeface="+mj-lt"/>
                <a:ea typeface="+mj-ea"/>
                <a:cs typeface="+mj-cs"/>
              </a:rPr>
              <a:t>Business can focus on strengthening weaker regions while maintaining performance in top regions.</a:t>
            </a:r>
          </a:p>
          <a:p>
            <a:pPr>
              <a:spcBef>
                <a:spcPts val="1000"/>
              </a:spcBef>
              <a:buClr>
                <a:schemeClr val="bg2">
                  <a:lumMod val="40000"/>
                  <a:lumOff val="60000"/>
                </a:schemeClr>
              </a:buClr>
              <a:buSzPct val="80000"/>
            </a:pPr>
            <a:endParaRPr lang="en-US" dirty="0">
              <a:solidFill>
                <a:srgbClr val="EBEBEB"/>
              </a:solidFill>
              <a:latin typeface="+mj-lt"/>
              <a:ea typeface="+mj-ea"/>
              <a:cs typeface="+mj-cs"/>
            </a:endParaRPr>
          </a:p>
        </p:txBody>
      </p:sp>
      <p:pic>
        <p:nvPicPr>
          <p:cNvPr id="4" name="Picture 3">
            <a:extLst>
              <a:ext uri="{FF2B5EF4-FFF2-40B4-BE49-F238E27FC236}">
                <a16:creationId xmlns:a16="http://schemas.microsoft.com/office/drawing/2014/main" id="{85BE49E1-F7A1-7481-BBC2-0A35308A083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20250" y="1751007"/>
            <a:ext cx="5783772" cy="3506793"/>
          </a:xfrm>
          <a:prstGeom prst="rect">
            <a:avLst/>
          </a:prstGeom>
        </p:spPr>
      </p:pic>
    </p:spTree>
    <p:extLst>
      <p:ext uri="{BB962C8B-B14F-4D97-AF65-F5344CB8AC3E}">
        <p14:creationId xmlns:p14="http://schemas.microsoft.com/office/powerpoint/2010/main" val="951652778"/>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035B1A-2A4C-EFC1-921B-29059EB8BFCE}"/>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72093E51-5C5B-929F-E1FD-11217EFEA7C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4" name="Picture 13">
            <a:extLst>
              <a:ext uri="{FF2B5EF4-FFF2-40B4-BE49-F238E27FC236}">
                <a16:creationId xmlns:a16="http://schemas.microsoft.com/office/drawing/2014/main" id="{8BDD73A7-19EB-93FE-E375-7FD1926DFB5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a:extLst>
              <a:ext uri="{FF2B5EF4-FFF2-40B4-BE49-F238E27FC236}">
                <a16:creationId xmlns:a16="http://schemas.microsoft.com/office/drawing/2014/main" id="{350BC98B-9897-20B8-3E1B-A6D3029039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8" name="Picture 17">
            <a:extLst>
              <a:ext uri="{FF2B5EF4-FFF2-40B4-BE49-F238E27FC236}">
                <a16:creationId xmlns:a16="http://schemas.microsoft.com/office/drawing/2014/main" id="{DA0A68D8-63F2-D3C0-0717-CCB17BEC903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0" name="Picture 19">
            <a:extLst>
              <a:ext uri="{FF2B5EF4-FFF2-40B4-BE49-F238E27FC236}">
                <a16:creationId xmlns:a16="http://schemas.microsoft.com/office/drawing/2014/main" id="{7F79FAA1-2C42-88CB-75A5-E9192E568D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2" name="Rectangle 21">
            <a:extLst>
              <a:ext uri="{FF2B5EF4-FFF2-40B4-BE49-F238E27FC236}">
                <a16:creationId xmlns:a16="http://schemas.microsoft.com/office/drawing/2014/main" id="{D005A4EE-B46F-E777-03D2-6BDD68155A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3">
            <a:extLst>
              <a:ext uri="{FF2B5EF4-FFF2-40B4-BE49-F238E27FC236}">
                <a16:creationId xmlns:a16="http://schemas.microsoft.com/office/drawing/2014/main" id="{838ED98E-AA12-E60E-3471-BDF491611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61BDD5E-0856-9881-5303-76F2A7043B5D}"/>
              </a:ext>
            </a:extLst>
          </p:cNvPr>
          <p:cNvSpPr txBox="1"/>
          <p:nvPr/>
        </p:nvSpPr>
        <p:spPr>
          <a:xfrm>
            <a:off x="536547" y="565716"/>
            <a:ext cx="4105308" cy="1402646"/>
          </a:xfrm>
          <a:prstGeom prst="rect">
            <a:avLst/>
          </a:prstGeom>
        </p:spPr>
        <p:txBody>
          <a:bodyPr vert="horz" lIns="91440" tIns="45720" rIns="91440" bIns="45720" rtlCol="0" anchor="t">
            <a:normAutofit fontScale="85000" lnSpcReduction="10000"/>
          </a:bodyPr>
          <a:lstStyle/>
          <a:p>
            <a:pPr>
              <a:spcBef>
                <a:spcPct val="0"/>
              </a:spcBef>
              <a:spcAft>
                <a:spcPts val="600"/>
              </a:spcAft>
            </a:pPr>
            <a:r>
              <a:rPr lang="en-US" sz="4200" b="0" i="0" kern="1200" dirty="0">
                <a:solidFill>
                  <a:srgbClr val="EBEBEB"/>
                </a:solidFill>
                <a:latin typeface="+mj-lt"/>
                <a:ea typeface="+mj-ea"/>
                <a:cs typeface="+mj-cs"/>
              </a:rPr>
              <a:t> SHIPPING COST FOR EACH CITIES:</a:t>
            </a:r>
          </a:p>
        </p:txBody>
      </p:sp>
      <p:sp>
        <p:nvSpPr>
          <p:cNvPr id="26" name="Freeform 31">
            <a:extLst>
              <a:ext uri="{FF2B5EF4-FFF2-40B4-BE49-F238E27FC236}">
                <a16:creationId xmlns:a16="http://schemas.microsoft.com/office/drawing/2014/main" id="{BDD3E5C4-EDFE-D4F8-F64C-E565ADE20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8" name="Freeform: Shape 27">
            <a:extLst>
              <a:ext uri="{FF2B5EF4-FFF2-40B4-BE49-F238E27FC236}">
                <a16:creationId xmlns:a16="http://schemas.microsoft.com/office/drawing/2014/main" id="{64A1C56A-5D7F-F475-8BBC-EF74D7CDED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IN"/>
          </a:p>
        </p:txBody>
      </p:sp>
      <p:sp>
        <p:nvSpPr>
          <p:cNvPr id="30" name="Rectangle 29">
            <a:extLst>
              <a:ext uri="{FF2B5EF4-FFF2-40B4-BE49-F238E27FC236}">
                <a16:creationId xmlns:a16="http://schemas.microsoft.com/office/drawing/2014/main" id="{A9BF6160-4D01-6CC2-9EC3-D01A646E0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 name="TextBox 6">
            <a:extLst>
              <a:ext uri="{FF2B5EF4-FFF2-40B4-BE49-F238E27FC236}">
                <a16:creationId xmlns:a16="http://schemas.microsoft.com/office/drawing/2014/main" id="{D7412889-85EB-3CC2-2768-50D265A67D38}"/>
              </a:ext>
            </a:extLst>
          </p:cNvPr>
          <p:cNvSpPr txBox="1"/>
          <p:nvPr/>
        </p:nvSpPr>
        <p:spPr>
          <a:xfrm>
            <a:off x="648119" y="2018676"/>
            <a:ext cx="4166509" cy="4666937"/>
          </a:xfrm>
          <a:prstGeom prst="rect">
            <a:avLst/>
          </a:prstGeom>
        </p:spPr>
        <p:txBody>
          <a:bodyPr vert="horz" lIns="91440" tIns="45720" rIns="91440" bIns="45720" rtlCol="0">
            <a:normAutofit fontScale="92500" lnSpcReduction="10000"/>
          </a:bodyPr>
          <a:lstStyle/>
          <a:p>
            <a:pPr marL="285750" indent="-285750">
              <a:spcBef>
                <a:spcPts val="1000"/>
              </a:spcBef>
              <a:buClr>
                <a:schemeClr val="bg2">
                  <a:lumMod val="40000"/>
                  <a:lumOff val="60000"/>
                </a:schemeClr>
              </a:buClr>
              <a:buSzPct val="80000"/>
              <a:buFont typeface="Wingdings 3" charset="2"/>
              <a:buChar char=""/>
            </a:pPr>
            <a:r>
              <a:rPr lang="en-US" dirty="0">
                <a:solidFill>
                  <a:srgbClr val="EBEBEB"/>
                </a:solidFill>
                <a:latin typeface="+mj-lt"/>
                <a:ea typeface="+mj-ea"/>
                <a:cs typeface="+mj-cs"/>
              </a:rPr>
              <a:t>This line chart illustrates the total shipping cost incurred across different cities.</a:t>
            </a:r>
          </a:p>
          <a:p>
            <a:pPr marL="285750" indent="-285750">
              <a:spcBef>
                <a:spcPts val="1000"/>
              </a:spcBef>
              <a:buClr>
                <a:schemeClr val="bg2">
                  <a:lumMod val="40000"/>
                  <a:lumOff val="60000"/>
                </a:schemeClr>
              </a:buClr>
              <a:buSzPct val="80000"/>
              <a:buFont typeface="Wingdings 3" charset="2"/>
              <a:buChar char=""/>
            </a:pPr>
            <a:r>
              <a:rPr lang="en-US" dirty="0">
                <a:solidFill>
                  <a:srgbClr val="EBEBEB"/>
                </a:solidFill>
                <a:latin typeface="+mj-lt"/>
                <a:ea typeface="+mj-ea"/>
                <a:cs typeface="+mj-cs"/>
              </a:rPr>
              <a:t>Chennai has the highest shipping cost at </a:t>
            </a:r>
            <a:r>
              <a:rPr lang="en-US" dirty="0">
                <a:solidFill>
                  <a:schemeClr val="bg1"/>
                </a:solidFill>
                <a:latin typeface="+mj-lt"/>
                <a:ea typeface="+mj-ea"/>
                <a:cs typeface="+mj-cs"/>
              </a:rPr>
              <a:t>around </a:t>
            </a:r>
            <a:r>
              <a:rPr lang="en-US" b="1" dirty="0">
                <a:solidFill>
                  <a:schemeClr val="bg1"/>
                </a:solidFill>
              </a:rPr>
              <a:t>₹105,000</a:t>
            </a:r>
            <a:r>
              <a:rPr lang="en-US" dirty="0">
                <a:solidFill>
                  <a:schemeClr val="bg1"/>
                </a:solidFill>
              </a:rPr>
              <a:t>, indicating higher logistics expenses.</a:t>
            </a:r>
            <a:endParaRPr lang="en-US" dirty="0">
              <a:solidFill>
                <a:schemeClr val="bg1"/>
              </a:solidFill>
              <a:latin typeface="+mj-lt"/>
              <a:ea typeface="+mj-ea"/>
              <a:cs typeface="+mj-cs"/>
            </a:endParaRPr>
          </a:p>
          <a:p>
            <a:pPr marL="285750" indent="-285750">
              <a:spcBef>
                <a:spcPts val="1000"/>
              </a:spcBef>
              <a:buClr>
                <a:schemeClr val="bg2">
                  <a:lumMod val="40000"/>
                  <a:lumOff val="60000"/>
                </a:schemeClr>
              </a:buClr>
              <a:buSzPct val="80000"/>
              <a:buFont typeface="Wingdings 3" charset="2"/>
              <a:buChar char=""/>
            </a:pPr>
            <a:r>
              <a:rPr lang="en-US" dirty="0">
                <a:solidFill>
                  <a:srgbClr val="EBEBEB"/>
                </a:solidFill>
                <a:latin typeface="+mj-lt"/>
                <a:ea typeface="+mj-ea"/>
                <a:cs typeface="+mj-cs"/>
              </a:rPr>
              <a:t>Pune also shows a high cost close </a:t>
            </a:r>
            <a:r>
              <a:rPr lang="en-US" dirty="0">
                <a:solidFill>
                  <a:schemeClr val="bg1"/>
                </a:solidFill>
                <a:latin typeface="+mj-lt"/>
                <a:ea typeface="+mj-ea"/>
                <a:cs typeface="+mj-cs"/>
              </a:rPr>
              <a:t>to </a:t>
            </a:r>
            <a:r>
              <a:rPr lang="en-US" b="1" dirty="0">
                <a:solidFill>
                  <a:schemeClr val="bg1"/>
                </a:solidFill>
              </a:rPr>
              <a:t>₹100,000</a:t>
            </a:r>
            <a:r>
              <a:rPr lang="en-US" dirty="0">
                <a:solidFill>
                  <a:schemeClr val="bg1"/>
                </a:solidFill>
              </a:rPr>
              <a:t>, making it another expensive city for shipping.</a:t>
            </a:r>
          </a:p>
          <a:p>
            <a:pPr marL="285750" indent="-285750">
              <a:spcBef>
                <a:spcPts val="1000"/>
              </a:spcBef>
              <a:buClr>
                <a:schemeClr val="bg2">
                  <a:lumMod val="40000"/>
                  <a:lumOff val="60000"/>
                </a:schemeClr>
              </a:buClr>
              <a:buSzPct val="80000"/>
              <a:buFont typeface="Wingdings 3" charset="2"/>
              <a:buChar char=""/>
            </a:pPr>
            <a:r>
              <a:rPr lang="en-US" dirty="0">
                <a:solidFill>
                  <a:schemeClr val="bg1"/>
                </a:solidFill>
                <a:latin typeface="+mj-lt"/>
                <a:ea typeface="+mj-ea"/>
                <a:cs typeface="+mj-cs"/>
              </a:rPr>
              <a:t>Bangalore, Kolkata, and Mumbai have moderate shipping costs, around </a:t>
            </a:r>
            <a:r>
              <a:rPr lang="en-IN" dirty="0">
                <a:solidFill>
                  <a:schemeClr val="bg1"/>
                </a:solidFill>
              </a:rPr>
              <a:t>₹85,000–₹90,000.</a:t>
            </a:r>
          </a:p>
          <a:p>
            <a:pPr marL="285750" indent="-285750">
              <a:spcBef>
                <a:spcPts val="1000"/>
              </a:spcBef>
              <a:buClr>
                <a:schemeClr val="bg2">
                  <a:lumMod val="40000"/>
                  <a:lumOff val="60000"/>
                </a:schemeClr>
              </a:buClr>
              <a:buSzPct val="80000"/>
              <a:buFont typeface="Wingdings 3" charset="2"/>
              <a:buChar char=""/>
            </a:pPr>
            <a:r>
              <a:rPr lang="en-IN" dirty="0">
                <a:solidFill>
                  <a:schemeClr val="bg1"/>
                </a:solidFill>
                <a:latin typeface="+mj-lt"/>
                <a:ea typeface="+mj-ea"/>
                <a:cs typeface="+mj-cs"/>
              </a:rPr>
              <a:t>Ahmedabad, Delhi, and Kochi have relatively lower shipping costs, with Kochi being among the lowest</a:t>
            </a:r>
            <a:endParaRPr lang="en-US" dirty="0">
              <a:solidFill>
                <a:schemeClr val="bg1"/>
              </a:solidFill>
              <a:latin typeface="+mj-lt"/>
              <a:ea typeface="+mj-ea"/>
              <a:cs typeface="+mj-cs"/>
            </a:endParaRPr>
          </a:p>
        </p:txBody>
      </p:sp>
      <p:pic>
        <p:nvPicPr>
          <p:cNvPr id="3" name="Picture 2">
            <a:extLst>
              <a:ext uri="{FF2B5EF4-FFF2-40B4-BE49-F238E27FC236}">
                <a16:creationId xmlns:a16="http://schemas.microsoft.com/office/drawing/2014/main" id="{0601C310-216F-B915-5BF7-01532A03E3E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31885" y="1858312"/>
            <a:ext cx="5734850" cy="2905530"/>
          </a:xfrm>
          <a:prstGeom prst="rect">
            <a:avLst/>
          </a:prstGeom>
        </p:spPr>
      </p:pic>
    </p:spTree>
    <p:extLst>
      <p:ext uri="{BB962C8B-B14F-4D97-AF65-F5344CB8AC3E}">
        <p14:creationId xmlns:p14="http://schemas.microsoft.com/office/powerpoint/2010/main" val="2161850141"/>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0A873A-01A1-7125-BF52-22A8678F8691}"/>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E32394C4-AF0D-602C-2FB9-CF0B4443861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4" name="Picture 13">
            <a:extLst>
              <a:ext uri="{FF2B5EF4-FFF2-40B4-BE49-F238E27FC236}">
                <a16:creationId xmlns:a16="http://schemas.microsoft.com/office/drawing/2014/main" id="{D3076DAD-3CD7-5DCA-4CF3-5DAEF74F559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a:extLst>
              <a:ext uri="{FF2B5EF4-FFF2-40B4-BE49-F238E27FC236}">
                <a16:creationId xmlns:a16="http://schemas.microsoft.com/office/drawing/2014/main" id="{C33BC6EA-961E-0A4C-58B4-6090E7BD9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8" name="Picture 17">
            <a:extLst>
              <a:ext uri="{FF2B5EF4-FFF2-40B4-BE49-F238E27FC236}">
                <a16:creationId xmlns:a16="http://schemas.microsoft.com/office/drawing/2014/main" id="{E2AA1093-F37D-FC41-1F30-32BF2C2F96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0" name="Picture 19">
            <a:extLst>
              <a:ext uri="{FF2B5EF4-FFF2-40B4-BE49-F238E27FC236}">
                <a16:creationId xmlns:a16="http://schemas.microsoft.com/office/drawing/2014/main" id="{75BEB2B9-8B68-6E73-377D-45C22F5DD14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2" name="Rectangle 21">
            <a:extLst>
              <a:ext uri="{FF2B5EF4-FFF2-40B4-BE49-F238E27FC236}">
                <a16:creationId xmlns:a16="http://schemas.microsoft.com/office/drawing/2014/main" id="{1090F154-9328-55E6-27BD-F5FA3DBCC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3">
            <a:extLst>
              <a:ext uri="{FF2B5EF4-FFF2-40B4-BE49-F238E27FC236}">
                <a16:creationId xmlns:a16="http://schemas.microsoft.com/office/drawing/2014/main" id="{AD4E83CE-B10E-ED7E-8C01-B8DDEFA28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55B7204-A528-7A91-5C04-C0A2EFA56C4C}"/>
              </a:ext>
            </a:extLst>
          </p:cNvPr>
          <p:cNvSpPr txBox="1"/>
          <p:nvPr/>
        </p:nvSpPr>
        <p:spPr>
          <a:xfrm>
            <a:off x="536547" y="565715"/>
            <a:ext cx="4666036" cy="1452959"/>
          </a:xfrm>
          <a:prstGeom prst="rect">
            <a:avLst/>
          </a:prstGeom>
        </p:spPr>
        <p:txBody>
          <a:bodyPr vert="horz" lIns="91440" tIns="45720" rIns="91440" bIns="45720" rtlCol="0" anchor="t">
            <a:normAutofit fontScale="85000" lnSpcReduction="10000"/>
          </a:bodyPr>
          <a:lstStyle/>
          <a:p>
            <a:pPr>
              <a:spcBef>
                <a:spcPct val="0"/>
              </a:spcBef>
              <a:spcAft>
                <a:spcPts val="600"/>
              </a:spcAft>
            </a:pPr>
            <a:r>
              <a:rPr lang="en-US" sz="4200" dirty="0">
                <a:solidFill>
                  <a:srgbClr val="EBEBEB"/>
                </a:solidFill>
                <a:latin typeface="+mj-lt"/>
                <a:ea typeface="+mj-ea"/>
                <a:cs typeface="+mj-cs"/>
              </a:rPr>
              <a:t>AVERAGE OF SALES IN EACH CITIES</a:t>
            </a:r>
            <a:r>
              <a:rPr lang="en-US" sz="4200" b="0" i="0" kern="1200" dirty="0">
                <a:solidFill>
                  <a:srgbClr val="EBEBEB"/>
                </a:solidFill>
                <a:latin typeface="+mj-lt"/>
                <a:ea typeface="+mj-ea"/>
                <a:cs typeface="+mj-cs"/>
              </a:rPr>
              <a:t>:</a:t>
            </a:r>
          </a:p>
        </p:txBody>
      </p:sp>
      <p:sp>
        <p:nvSpPr>
          <p:cNvPr id="26" name="Freeform 31">
            <a:extLst>
              <a:ext uri="{FF2B5EF4-FFF2-40B4-BE49-F238E27FC236}">
                <a16:creationId xmlns:a16="http://schemas.microsoft.com/office/drawing/2014/main" id="{FB397239-37A1-6FA5-DE4D-C3284A4F65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8" name="Freeform: Shape 27">
            <a:extLst>
              <a:ext uri="{FF2B5EF4-FFF2-40B4-BE49-F238E27FC236}">
                <a16:creationId xmlns:a16="http://schemas.microsoft.com/office/drawing/2014/main" id="{B5583668-6A32-047A-CA99-D4154F0D5F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IN"/>
          </a:p>
        </p:txBody>
      </p:sp>
      <p:sp>
        <p:nvSpPr>
          <p:cNvPr id="30" name="Rectangle 29">
            <a:extLst>
              <a:ext uri="{FF2B5EF4-FFF2-40B4-BE49-F238E27FC236}">
                <a16:creationId xmlns:a16="http://schemas.microsoft.com/office/drawing/2014/main" id="{EAE5FDB7-CE17-529F-CD49-1A553C119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 name="TextBox 6">
            <a:extLst>
              <a:ext uri="{FF2B5EF4-FFF2-40B4-BE49-F238E27FC236}">
                <a16:creationId xmlns:a16="http://schemas.microsoft.com/office/drawing/2014/main" id="{23F8404B-1B52-FF5C-A7D4-0A2FB583530D}"/>
              </a:ext>
            </a:extLst>
          </p:cNvPr>
          <p:cNvSpPr txBox="1"/>
          <p:nvPr/>
        </p:nvSpPr>
        <p:spPr>
          <a:xfrm>
            <a:off x="648119" y="2018676"/>
            <a:ext cx="4166509" cy="4666937"/>
          </a:xfrm>
          <a:prstGeom prst="rect">
            <a:avLst/>
          </a:prstGeom>
        </p:spPr>
        <p:txBody>
          <a:bodyPr vert="horz" lIns="91440" tIns="45720" rIns="91440" bIns="45720" rtlCol="0">
            <a:normAutofit/>
          </a:bodyPr>
          <a:lstStyle/>
          <a:p>
            <a:pPr marL="285750" indent="-285750">
              <a:spcBef>
                <a:spcPts val="1000"/>
              </a:spcBef>
              <a:buClr>
                <a:schemeClr val="bg2">
                  <a:lumMod val="40000"/>
                  <a:lumOff val="60000"/>
                </a:schemeClr>
              </a:buClr>
              <a:buSzPct val="80000"/>
              <a:buFont typeface="Wingdings 3" charset="2"/>
              <a:buChar char=""/>
            </a:pPr>
            <a:r>
              <a:rPr lang="en-US" dirty="0">
                <a:solidFill>
                  <a:srgbClr val="EBEBEB"/>
                </a:solidFill>
                <a:latin typeface="+mj-lt"/>
                <a:ea typeface="+mj-ea"/>
                <a:cs typeface="+mj-cs"/>
              </a:rPr>
              <a:t>This Bar chart represents the average sales performance across different cities. Each bar shows how much sales were generated on average specific city.</a:t>
            </a:r>
          </a:p>
          <a:p>
            <a:pPr marL="285750" indent="-285750">
              <a:spcBef>
                <a:spcPts val="1000"/>
              </a:spcBef>
              <a:buClr>
                <a:schemeClr val="bg2">
                  <a:lumMod val="40000"/>
                  <a:lumOff val="60000"/>
                </a:schemeClr>
              </a:buClr>
              <a:buSzPct val="80000"/>
              <a:buFont typeface="Wingdings 3" charset="2"/>
              <a:buChar char=""/>
            </a:pPr>
            <a:r>
              <a:rPr lang="en-US" dirty="0">
                <a:solidFill>
                  <a:schemeClr val="bg1"/>
                </a:solidFill>
                <a:latin typeface="+mj-lt"/>
                <a:ea typeface="+mj-ea"/>
                <a:cs typeface="+mj-cs"/>
              </a:rPr>
              <a:t>Major metropolitan cities like Delhi, Bangalore, and Chennai are driving higher sales.</a:t>
            </a:r>
          </a:p>
          <a:p>
            <a:pPr marL="285750" indent="-285750">
              <a:spcBef>
                <a:spcPts val="1000"/>
              </a:spcBef>
              <a:buClr>
                <a:schemeClr val="bg2">
                  <a:lumMod val="40000"/>
                  <a:lumOff val="60000"/>
                </a:schemeClr>
              </a:buClr>
              <a:buSzPct val="80000"/>
              <a:buFont typeface="Wingdings 3" charset="2"/>
              <a:buChar char=""/>
            </a:pPr>
            <a:r>
              <a:rPr lang="en-US" dirty="0">
                <a:solidFill>
                  <a:schemeClr val="bg1"/>
                </a:solidFill>
                <a:latin typeface="+mj-lt"/>
                <a:ea typeface="+mj-ea"/>
                <a:cs typeface="+mj-cs"/>
              </a:rPr>
              <a:t>There is an opportunity to improve sales </a:t>
            </a:r>
            <a:r>
              <a:rPr lang="en-US" dirty="0" err="1">
                <a:solidFill>
                  <a:schemeClr val="bg1"/>
                </a:solidFill>
                <a:latin typeface="+mj-lt"/>
                <a:ea typeface="+mj-ea"/>
                <a:cs typeface="+mj-cs"/>
              </a:rPr>
              <a:t>stratergies</a:t>
            </a:r>
            <a:r>
              <a:rPr lang="en-US" dirty="0">
                <a:solidFill>
                  <a:schemeClr val="bg1"/>
                </a:solidFill>
                <a:latin typeface="+mj-lt"/>
                <a:ea typeface="+mj-ea"/>
                <a:cs typeface="+mj-cs"/>
              </a:rPr>
              <a:t> in lower performing cities like Pune and Kochi.</a:t>
            </a:r>
          </a:p>
        </p:txBody>
      </p:sp>
      <p:pic>
        <p:nvPicPr>
          <p:cNvPr id="4" name="Picture 3">
            <a:extLst>
              <a:ext uri="{FF2B5EF4-FFF2-40B4-BE49-F238E27FC236}">
                <a16:creationId xmlns:a16="http://schemas.microsoft.com/office/drawing/2014/main" id="{FF899FB5-F09F-B1E6-EEE7-535AA921CEA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18893" y="2037330"/>
            <a:ext cx="5167703" cy="3162747"/>
          </a:xfrm>
          <a:prstGeom prst="rect">
            <a:avLst/>
          </a:prstGeom>
        </p:spPr>
      </p:pic>
    </p:spTree>
    <p:extLst>
      <p:ext uri="{BB962C8B-B14F-4D97-AF65-F5344CB8AC3E}">
        <p14:creationId xmlns:p14="http://schemas.microsoft.com/office/powerpoint/2010/main" val="470009978"/>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3" name="Picture 32">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5" name="Oval 34">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37" name="Picture 36">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9" name="Picture 38">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41" name="Rectangle 40">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useBgFill="1">
        <p:nvSpPr>
          <p:cNvPr id="43" name="Rectangle 42">
            <a:extLst>
              <a:ext uri="{FF2B5EF4-FFF2-40B4-BE49-F238E27FC236}">
                <a16:creationId xmlns:a16="http://schemas.microsoft.com/office/drawing/2014/main" id="{0D9B8FD4-CDEB-4EB4-B4DE-C89E11938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45" name="Freeform 36">
            <a:extLst>
              <a:ext uri="{FF2B5EF4-FFF2-40B4-BE49-F238E27FC236}">
                <a16:creationId xmlns:a16="http://schemas.microsoft.com/office/drawing/2014/main" id="{5A2E3D1D-9E9F-4739-BA14-D4D7FA9FB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44637"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47" name="Freeform: Shape 46">
            <a:extLst>
              <a:ext uri="{FF2B5EF4-FFF2-40B4-BE49-F238E27FC236}">
                <a16:creationId xmlns:a16="http://schemas.microsoft.com/office/drawing/2014/main" id="{1FFB365B-E9DC-4859-B8AB-CB83EEBE4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990911" cy="6858001"/>
          </a:xfrm>
          <a:custGeom>
            <a:avLst/>
            <a:gdLst>
              <a:gd name="connsiteX0" fmla="*/ 3646196 w 4990911"/>
              <a:gd name="connsiteY0" fmla="*/ 0 h 6858001"/>
              <a:gd name="connsiteX1" fmla="*/ 4989734 w 4990911"/>
              <a:gd name="connsiteY1" fmla="*/ 0 h 6858001"/>
              <a:gd name="connsiteX2" fmla="*/ 4964689 w 4990911"/>
              <a:gd name="connsiteY2" fmla="*/ 155677 h 6858001"/>
              <a:gd name="connsiteX3" fmla="*/ 4940820 w 4990911"/>
              <a:gd name="connsiteY3" fmla="*/ 310668 h 6858001"/>
              <a:gd name="connsiteX4" fmla="*/ 4917456 w 4990911"/>
              <a:gd name="connsiteY4" fmla="*/ 466344 h 6858001"/>
              <a:gd name="connsiteX5" fmla="*/ 4897453 w 4990911"/>
              <a:gd name="connsiteY5" fmla="*/ 622707 h 6858001"/>
              <a:gd name="connsiteX6" fmla="*/ 4877282 w 4990911"/>
              <a:gd name="connsiteY6" fmla="*/ 778383 h 6858001"/>
              <a:gd name="connsiteX7" fmla="*/ 4858456 w 4990911"/>
              <a:gd name="connsiteY7" fmla="*/ 934746 h 6858001"/>
              <a:gd name="connsiteX8" fmla="*/ 4842320 w 4990911"/>
              <a:gd name="connsiteY8" fmla="*/ 1089051 h 6858001"/>
              <a:gd name="connsiteX9" fmla="*/ 4827024 w 4990911"/>
              <a:gd name="connsiteY9" fmla="*/ 1245413 h 6858001"/>
              <a:gd name="connsiteX10" fmla="*/ 4813072 w 4990911"/>
              <a:gd name="connsiteY10" fmla="*/ 1401090 h 6858001"/>
              <a:gd name="connsiteX11" fmla="*/ 4800970 w 4990911"/>
              <a:gd name="connsiteY11" fmla="*/ 1554023 h 6858001"/>
              <a:gd name="connsiteX12" fmla="*/ 4788867 w 4990911"/>
              <a:gd name="connsiteY12" fmla="*/ 1709014 h 6858001"/>
              <a:gd name="connsiteX13" fmla="*/ 4778782 w 4990911"/>
              <a:gd name="connsiteY13" fmla="*/ 1861947 h 6858001"/>
              <a:gd name="connsiteX14" fmla="*/ 4770882 w 4990911"/>
              <a:gd name="connsiteY14" fmla="*/ 2014881 h 6858001"/>
              <a:gd name="connsiteX15" fmla="*/ 4762645 w 4990911"/>
              <a:gd name="connsiteY15" fmla="*/ 2167128 h 6858001"/>
              <a:gd name="connsiteX16" fmla="*/ 4755754 w 4990911"/>
              <a:gd name="connsiteY16" fmla="*/ 2318004 h 6858001"/>
              <a:gd name="connsiteX17" fmla="*/ 4750879 w 4990911"/>
              <a:gd name="connsiteY17" fmla="*/ 2467509 h 6858001"/>
              <a:gd name="connsiteX18" fmla="*/ 4746677 w 4990911"/>
              <a:gd name="connsiteY18" fmla="*/ 2617013 h 6858001"/>
              <a:gd name="connsiteX19" fmla="*/ 4742643 w 4990911"/>
              <a:gd name="connsiteY19" fmla="*/ 2765146 h 6858001"/>
              <a:gd name="connsiteX20" fmla="*/ 4740794 w 4990911"/>
              <a:gd name="connsiteY20" fmla="*/ 2911221 h 6858001"/>
              <a:gd name="connsiteX21" fmla="*/ 4738777 w 4990911"/>
              <a:gd name="connsiteY21" fmla="*/ 3057297 h 6858001"/>
              <a:gd name="connsiteX22" fmla="*/ 4737768 w 4990911"/>
              <a:gd name="connsiteY22" fmla="*/ 3201315 h 6858001"/>
              <a:gd name="connsiteX23" fmla="*/ 4738777 w 4990911"/>
              <a:gd name="connsiteY23" fmla="*/ 3343961 h 6858001"/>
              <a:gd name="connsiteX24" fmla="*/ 4738777 w 4990911"/>
              <a:gd name="connsiteY24" fmla="*/ 3485236 h 6858001"/>
              <a:gd name="connsiteX25" fmla="*/ 4740794 w 4990911"/>
              <a:gd name="connsiteY25" fmla="*/ 3625139 h 6858001"/>
              <a:gd name="connsiteX26" fmla="*/ 4743819 w 4990911"/>
              <a:gd name="connsiteY26" fmla="*/ 3762299 h 6858001"/>
              <a:gd name="connsiteX27" fmla="*/ 4746677 w 4990911"/>
              <a:gd name="connsiteY27" fmla="*/ 3898087 h 6858001"/>
              <a:gd name="connsiteX28" fmla="*/ 4749871 w 4990911"/>
              <a:gd name="connsiteY28" fmla="*/ 4031133 h 6858001"/>
              <a:gd name="connsiteX29" fmla="*/ 4754745 w 4990911"/>
              <a:gd name="connsiteY29" fmla="*/ 4163492 h 6858001"/>
              <a:gd name="connsiteX30" fmla="*/ 4759956 w 4990911"/>
              <a:gd name="connsiteY30" fmla="*/ 4293793 h 6858001"/>
              <a:gd name="connsiteX31" fmla="*/ 4764662 w 4990911"/>
              <a:gd name="connsiteY31" fmla="*/ 4421352 h 6858001"/>
              <a:gd name="connsiteX32" fmla="*/ 4777942 w 4990911"/>
              <a:gd name="connsiteY32" fmla="*/ 4670298 h 6858001"/>
              <a:gd name="connsiteX33" fmla="*/ 4792061 w 4990911"/>
              <a:gd name="connsiteY33" fmla="*/ 4908956 h 6858001"/>
              <a:gd name="connsiteX34" fmla="*/ 4806853 w 4990911"/>
              <a:gd name="connsiteY34" fmla="*/ 5138013 h 6858001"/>
              <a:gd name="connsiteX35" fmla="*/ 4823158 w 4990911"/>
              <a:gd name="connsiteY35" fmla="*/ 5354726 h 6858001"/>
              <a:gd name="connsiteX36" fmla="*/ 4840135 w 4990911"/>
              <a:gd name="connsiteY36" fmla="*/ 5561838 h 6858001"/>
              <a:gd name="connsiteX37" fmla="*/ 4858456 w 4990911"/>
              <a:gd name="connsiteY37" fmla="*/ 5753862 h 6858001"/>
              <a:gd name="connsiteX38" fmla="*/ 4876442 w 4990911"/>
              <a:gd name="connsiteY38" fmla="*/ 5934227 h 6858001"/>
              <a:gd name="connsiteX39" fmla="*/ 4894427 w 4990911"/>
              <a:gd name="connsiteY39" fmla="*/ 6100191 h 6858001"/>
              <a:gd name="connsiteX40" fmla="*/ 4911404 w 4990911"/>
              <a:gd name="connsiteY40" fmla="*/ 6252438 h 6858001"/>
              <a:gd name="connsiteX41" fmla="*/ 4927541 w 4990911"/>
              <a:gd name="connsiteY41" fmla="*/ 6387541 h 6858001"/>
              <a:gd name="connsiteX42" fmla="*/ 4942837 w 4990911"/>
              <a:gd name="connsiteY42" fmla="*/ 6509613 h 6858001"/>
              <a:gd name="connsiteX43" fmla="*/ 4955612 w 4990911"/>
              <a:gd name="connsiteY43" fmla="*/ 6612483 h 6858001"/>
              <a:gd name="connsiteX44" fmla="*/ 4967714 w 4990911"/>
              <a:gd name="connsiteY44" fmla="*/ 6698894 h 6858001"/>
              <a:gd name="connsiteX45" fmla="*/ 4985028 w 4990911"/>
              <a:gd name="connsiteY45" fmla="*/ 6817538 h 6858001"/>
              <a:gd name="connsiteX46" fmla="*/ 4990911 w 4990911"/>
              <a:gd name="connsiteY46" fmla="*/ 6858000 h 6858001"/>
              <a:gd name="connsiteX47" fmla="*/ 4085557 w 4990911"/>
              <a:gd name="connsiteY47" fmla="*/ 6858000 h 6858001"/>
              <a:gd name="connsiteX48" fmla="*/ 4085557 w 4990911"/>
              <a:gd name="connsiteY48" fmla="*/ 6858001 h 6858001"/>
              <a:gd name="connsiteX49" fmla="*/ 0 w 4990911"/>
              <a:gd name="connsiteY49" fmla="*/ 6858001 h 6858001"/>
              <a:gd name="connsiteX50" fmla="*/ 0 w 4990911"/>
              <a:gd name="connsiteY50" fmla="*/ 1 h 6858001"/>
              <a:gd name="connsiteX51" fmla="*/ 3646196 w 4990911"/>
              <a:gd name="connsiteY51"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990911" h="6858001">
                <a:moveTo>
                  <a:pt x="3646196" y="0"/>
                </a:moveTo>
                <a:lnTo>
                  <a:pt x="4989734" y="0"/>
                </a:lnTo>
                <a:lnTo>
                  <a:pt x="4964689" y="155677"/>
                </a:lnTo>
                <a:lnTo>
                  <a:pt x="4940820" y="310668"/>
                </a:lnTo>
                <a:lnTo>
                  <a:pt x="4917456" y="466344"/>
                </a:lnTo>
                <a:lnTo>
                  <a:pt x="4897453" y="622707"/>
                </a:lnTo>
                <a:lnTo>
                  <a:pt x="4877282" y="778383"/>
                </a:lnTo>
                <a:lnTo>
                  <a:pt x="4858456" y="934746"/>
                </a:lnTo>
                <a:lnTo>
                  <a:pt x="4842320" y="1089051"/>
                </a:lnTo>
                <a:lnTo>
                  <a:pt x="4827024" y="1245413"/>
                </a:lnTo>
                <a:lnTo>
                  <a:pt x="4813072" y="1401090"/>
                </a:lnTo>
                <a:lnTo>
                  <a:pt x="4800970" y="1554023"/>
                </a:lnTo>
                <a:lnTo>
                  <a:pt x="4788867" y="1709014"/>
                </a:lnTo>
                <a:lnTo>
                  <a:pt x="4778782" y="1861947"/>
                </a:lnTo>
                <a:lnTo>
                  <a:pt x="4770882" y="2014881"/>
                </a:lnTo>
                <a:lnTo>
                  <a:pt x="4762645" y="2167128"/>
                </a:lnTo>
                <a:lnTo>
                  <a:pt x="4755754" y="2318004"/>
                </a:lnTo>
                <a:lnTo>
                  <a:pt x="4750879" y="2467509"/>
                </a:lnTo>
                <a:lnTo>
                  <a:pt x="4746677" y="2617013"/>
                </a:lnTo>
                <a:lnTo>
                  <a:pt x="4742643" y="2765146"/>
                </a:lnTo>
                <a:lnTo>
                  <a:pt x="4740794" y="2911221"/>
                </a:lnTo>
                <a:lnTo>
                  <a:pt x="4738777" y="3057297"/>
                </a:lnTo>
                <a:lnTo>
                  <a:pt x="4737768" y="3201315"/>
                </a:lnTo>
                <a:lnTo>
                  <a:pt x="4738777" y="3343961"/>
                </a:lnTo>
                <a:lnTo>
                  <a:pt x="4738777" y="3485236"/>
                </a:lnTo>
                <a:lnTo>
                  <a:pt x="4740794" y="3625139"/>
                </a:lnTo>
                <a:lnTo>
                  <a:pt x="4743819" y="3762299"/>
                </a:lnTo>
                <a:lnTo>
                  <a:pt x="4746677" y="3898087"/>
                </a:lnTo>
                <a:lnTo>
                  <a:pt x="4749871" y="4031133"/>
                </a:lnTo>
                <a:lnTo>
                  <a:pt x="4754745" y="4163492"/>
                </a:lnTo>
                <a:lnTo>
                  <a:pt x="4759956" y="4293793"/>
                </a:lnTo>
                <a:lnTo>
                  <a:pt x="4764662" y="4421352"/>
                </a:lnTo>
                <a:lnTo>
                  <a:pt x="4777942" y="4670298"/>
                </a:lnTo>
                <a:lnTo>
                  <a:pt x="4792061" y="4908956"/>
                </a:lnTo>
                <a:lnTo>
                  <a:pt x="4806853" y="5138013"/>
                </a:lnTo>
                <a:lnTo>
                  <a:pt x="4823158" y="5354726"/>
                </a:lnTo>
                <a:lnTo>
                  <a:pt x="4840135" y="5561838"/>
                </a:lnTo>
                <a:lnTo>
                  <a:pt x="4858456" y="5753862"/>
                </a:lnTo>
                <a:lnTo>
                  <a:pt x="4876442" y="5934227"/>
                </a:lnTo>
                <a:lnTo>
                  <a:pt x="4894427" y="6100191"/>
                </a:lnTo>
                <a:lnTo>
                  <a:pt x="4911404" y="6252438"/>
                </a:lnTo>
                <a:lnTo>
                  <a:pt x="4927541" y="6387541"/>
                </a:lnTo>
                <a:lnTo>
                  <a:pt x="4942837" y="6509613"/>
                </a:lnTo>
                <a:lnTo>
                  <a:pt x="4955612" y="6612483"/>
                </a:lnTo>
                <a:lnTo>
                  <a:pt x="4967714" y="6698894"/>
                </a:lnTo>
                <a:lnTo>
                  <a:pt x="4985028" y="6817538"/>
                </a:lnTo>
                <a:lnTo>
                  <a:pt x="4990911" y="6858000"/>
                </a:lnTo>
                <a:lnTo>
                  <a:pt x="4085557" y="6858000"/>
                </a:lnTo>
                <a:lnTo>
                  <a:pt x="4085557" y="6858001"/>
                </a:lnTo>
                <a:lnTo>
                  <a:pt x="0" y="6858001"/>
                </a:lnTo>
                <a:lnTo>
                  <a:pt x="0" y="1"/>
                </a:lnTo>
                <a:lnTo>
                  <a:pt x="3646196" y="1"/>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8ADAB9C8-EB37-4914-A699-C716FC8FE4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7BED8281-FB33-C764-23EC-F950F4270846}"/>
              </a:ext>
            </a:extLst>
          </p:cNvPr>
          <p:cNvSpPr>
            <a:spLocks noGrp="1"/>
          </p:cNvSpPr>
          <p:nvPr>
            <p:ph type="title"/>
          </p:nvPr>
        </p:nvSpPr>
        <p:spPr>
          <a:xfrm>
            <a:off x="653143" y="1645920"/>
            <a:ext cx="3522879" cy="4470821"/>
          </a:xfrm>
        </p:spPr>
        <p:txBody>
          <a:bodyPr vert="horz" lIns="91440" tIns="45720" rIns="91440" bIns="45720" rtlCol="0" anchor="t">
            <a:normAutofit/>
          </a:bodyPr>
          <a:lstStyle/>
          <a:p>
            <a:pPr algn="r"/>
            <a:r>
              <a:rPr lang="en-US" sz="4200" b="0" i="0" kern="1200">
                <a:solidFill>
                  <a:schemeClr val="bg2"/>
                </a:solidFill>
                <a:latin typeface="+mj-lt"/>
                <a:ea typeface="+mj-ea"/>
                <a:cs typeface="+mj-cs"/>
              </a:rPr>
              <a:t>FINAL INSIGHT :</a:t>
            </a:r>
          </a:p>
        </p:txBody>
      </p:sp>
      <p:sp>
        <p:nvSpPr>
          <p:cNvPr id="3" name="Text Placeholder 2">
            <a:extLst>
              <a:ext uri="{FF2B5EF4-FFF2-40B4-BE49-F238E27FC236}">
                <a16:creationId xmlns:a16="http://schemas.microsoft.com/office/drawing/2014/main" id="{1D917BEE-B863-0EC7-115B-11FF3F6111DD}"/>
              </a:ext>
            </a:extLst>
          </p:cNvPr>
          <p:cNvSpPr>
            <a:spLocks noGrp="1"/>
          </p:cNvSpPr>
          <p:nvPr>
            <p:ph type="body" sz="half" idx="2"/>
          </p:nvPr>
        </p:nvSpPr>
        <p:spPr>
          <a:xfrm>
            <a:off x="5204109" y="1259174"/>
            <a:ext cx="6987890" cy="5306518"/>
          </a:xfrm>
        </p:spPr>
        <p:txBody>
          <a:bodyPr vert="horz" lIns="91440" tIns="45720" rIns="91440" bIns="45720" rtlCol="0">
            <a:normAutofit/>
          </a:bodyPr>
          <a:lstStyle/>
          <a:p>
            <a:pPr marL="285750" indent="-285750">
              <a:lnSpc>
                <a:spcPct val="90000"/>
              </a:lnSpc>
              <a:buFont typeface="Wingdings 3" charset="2"/>
              <a:buChar char=""/>
            </a:pPr>
            <a:r>
              <a:rPr lang="en-US" sz="1400" dirty="0"/>
              <a:t> This sales data analysis project provides clear insights into business performance, customer behavior, and regional trend</a:t>
            </a:r>
          </a:p>
          <a:p>
            <a:pPr marL="285750" indent="-285750">
              <a:lnSpc>
                <a:spcPct val="90000"/>
              </a:lnSpc>
              <a:buFont typeface="Wingdings 3" charset="2"/>
              <a:buChar char=""/>
            </a:pPr>
            <a:r>
              <a:rPr lang="en-US" sz="1400" dirty="0"/>
              <a:t>Top-performing areas:</a:t>
            </a:r>
            <a:br>
              <a:rPr lang="en-US" sz="1400" dirty="0"/>
            </a:br>
            <a:r>
              <a:rPr lang="en-US" sz="1400" dirty="0"/>
              <a:t>Cities like Delhi, Bangalore, and Chennai and regions like North and West are the main revenue drivers.</a:t>
            </a:r>
          </a:p>
          <a:p>
            <a:pPr marL="285750" indent="-285750">
              <a:lnSpc>
                <a:spcPct val="90000"/>
              </a:lnSpc>
              <a:buFont typeface="Wingdings 3" charset="2"/>
              <a:buChar char=""/>
            </a:pPr>
            <a:r>
              <a:rPr lang="en-US" sz="1400" dirty="0"/>
              <a:t>Product performance:</a:t>
            </a:r>
            <a:br>
              <a:rPr lang="en-US" sz="1400" dirty="0"/>
            </a:br>
            <a:r>
              <a:rPr lang="en-US" sz="1400" dirty="0"/>
              <a:t>Products such as Tables and Jackets generate higher profit, while items like Headphones and Tablets need improvement.</a:t>
            </a:r>
          </a:p>
          <a:p>
            <a:pPr marL="285750" indent="-285750">
              <a:lnSpc>
                <a:spcPct val="90000"/>
              </a:lnSpc>
              <a:buFont typeface="Wingdings 3" charset="2"/>
              <a:buChar char=""/>
            </a:pPr>
            <a:r>
              <a:rPr lang="en-US" sz="1400" dirty="0"/>
              <a:t>Category analysis:</a:t>
            </a:r>
            <a:br>
              <a:rPr lang="en-US" sz="1400" dirty="0"/>
            </a:br>
            <a:r>
              <a:rPr lang="en-US" sz="1400" dirty="0"/>
              <a:t>Furniture leads in total sales, followed by Clothing and Electronics</a:t>
            </a:r>
          </a:p>
          <a:p>
            <a:pPr marL="285750" indent="-285750">
              <a:lnSpc>
                <a:spcPct val="90000"/>
              </a:lnSpc>
              <a:buFont typeface="Wingdings 3" charset="2"/>
              <a:buChar char=""/>
            </a:pPr>
            <a:r>
              <a:rPr lang="en-US" sz="1400" dirty="0"/>
              <a:t>Customer behavior:</a:t>
            </a:r>
            <a:br>
              <a:rPr lang="en-US" sz="1400" dirty="0"/>
            </a:br>
            <a:r>
              <a:rPr lang="en-US" sz="1400" dirty="0"/>
              <a:t>Most customers prefer UPI and Cash payments, showing a mix of digital and traditional payment trends.</a:t>
            </a:r>
          </a:p>
          <a:p>
            <a:pPr marL="285750" indent="-285750">
              <a:lnSpc>
                <a:spcPct val="90000"/>
              </a:lnSpc>
              <a:buFont typeface="Wingdings 3" charset="2"/>
              <a:buChar char=""/>
            </a:pPr>
            <a:r>
              <a:rPr lang="en-US" sz="1400" dirty="0"/>
              <a:t>Operational insight:</a:t>
            </a:r>
            <a:br>
              <a:rPr lang="en-US" sz="1400" dirty="0"/>
            </a:br>
            <a:r>
              <a:rPr lang="en-US" sz="1400" dirty="0"/>
              <a:t>Cities like Chennai and Pune have higher shipping costs, which may impact profit margins.</a:t>
            </a:r>
          </a:p>
          <a:p>
            <a:pPr marL="285750" indent="-285750">
              <a:lnSpc>
                <a:spcPct val="90000"/>
              </a:lnSpc>
              <a:buFont typeface="Wingdings 3" charset="2"/>
              <a:buChar char=""/>
            </a:pPr>
            <a:r>
              <a:rPr lang="en-US" sz="1400" dirty="0"/>
              <a:t>Growth opportunities:</a:t>
            </a:r>
            <a:br>
              <a:rPr lang="en-US" sz="1400" dirty="0"/>
            </a:br>
            <a:r>
              <a:rPr lang="en-US" sz="1400" dirty="0"/>
              <a:t>Lower-performing cities like Pune and Kochi and weaker regions (East) need better marketing, pricing strategies, and customer engagement</a:t>
            </a:r>
            <a:r>
              <a:rPr lang="en-US" sz="1300" dirty="0"/>
              <a:t>.</a:t>
            </a:r>
          </a:p>
        </p:txBody>
      </p:sp>
    </p:spTree>
    <p:extLst>
      <p:ext uri="{BB962C8B-B14F-4D97-AF65-F5344CB8AC3E}">
        <p14:creationId xmlns:p14="http://schemas.microsoft.com/office/powerpoint/2010/main" val="41257015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TM02836342[[fn=Ion]]</Template>
  <TotalTime>453</TotalTime>
  <Words>1196</Words>
  <Application>Microsoft Office PowerPoint</Application>
  <PresentationFormat>Widescreen</PresentationFormat>
  <Paragraphs>146</Paragraphs>
  <Slides>18</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Aharoni</vt:lpstr>
      <vt:lpstr>Aptos</vt:lpstr>
      <vt:lpstr>Arial</vt:lpstr>
      <vt:lpstr>Century Gothic</vt:lpstr>
      <vt:lpstr>Corbel</vt:lpstr>
      <vt:lpstr>Wingdings</vt:lpstr>
      <vt:lpstr>Wingdings 3</vt:lpstr>
      <vt:lpstr>Ion</vt:lpstr>
      <vt:lpstr>PowerPoint Presentation</vt:lpstr>
      <vt:lpstr>DISCRIPTION ABOUT THE DATA</vt:lpstr>
      <vt:lpstr>PROCESS</vt:lpstr>
      <vt:lpstr>WORKFLOW OF DATA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FINAL INSIGHT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ssathish50397@gmail.com</dc:creator>
  <cp:lastModifiedBy>ssathish50397@gmail.com</cp:lastModifiedBy>
  <cp:revision>8</cp:revision>
  <dcterms:created xsi:type="dcterms:W3CDTF">2026-04-10T06:54:50Z</dcterms:created>
  <dcterms:modified xsi:type="dcterms:W3CDTF">2026-04-15T08:52:19Z</dcterms:modified>
</cp:coreProperties>
</file>